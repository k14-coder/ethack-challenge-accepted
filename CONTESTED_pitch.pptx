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 |  32 sec  |  78 spoken words  |  slow, this is the whole pitch</a:t>
            </a:r>
          </a:p>
          <a:p/>
          <a:p>
            <a:r>
              <a:t>SAY:</a:t>
            </a:r>
          </a:p>
          <a:p>
            <a:r>
              <a:t>"Marathon Petroleum. Fifteenth of eighteen energy companies on how clean it is</a:t>
            </a:r>
          </a:p>
          <a:p>
            <a:r>
              <a:t>today. Sixth of eighteen on how fast it is improving.</a:t>
            </a:r>
          </a:p>
          <a:p/>
          <a:p>
            <a:r>
              <a:t>Same company. Same data. Same year.</a:t>
            </a:r>
          </a:p>
          <a:p/>
          <a:p>
            <a:r>
              <a:t>[PAUSE ONE BEAT]</a:t>
            </a:r>
          </a:p>
          <a:p/>
          <a:p>
            <a:r>
              <a:t>Neither number is wrong. They answer two different questions, and the rating</a:t>
            </a:r>
          </a:p>
          <a:p>
            <a:r>
              <a:t>industry publishes one of them without telling you which.</a:t>
            </a:r>
          </a:p>
          <a:p/>
          <a:p>
            <a:r>
              <a:t>That is what an ESG score is. One answer to a question nobody wrote down.</a:t>
            </a:r>
          </a:p>
          <a:p>
            <a:r>
              <a:t>We publish the question, the answer, and how much the answer depends on the</a:t>
            </a:r>
          </a:p>
          <a:p>
            <a:r>
              <a:t>question."</a:t>
            </a:r>
          </a:p>
          <a:p/>
          <a:p>
            <a:r>
              <a:t>DO NOT say methodology, specification or grid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DEFINITION + STUDY + COMPANIES  |  40 sec  |  103 spoken words</a:t>
            </a:r>
          </a:p>
          <a:p/>
          <a:p>
            <a:r>
              <a:t>SAY:</a:t>
            </a:r>
          </a:p>
          <a:p>
            <a:r>
              <a:t>"Our definition: less irreversible harm per unit of output than the peers making</a:t>
            </a:r>
          </a:p>
          <a:p>
            <a:r>
              <a:t>the same product, and a balance sheet that survives the transition. Financial</a:t>
            </a:r>
          </a:p>
          <a:p>
            <a:r>
              <a:t>resilience is in there because a company in distress cuts abatement first.</a:t>
            </a:r>
          </a:p>
          <a:p/>
          <a:p>
            <a:r>
              <a:t>Why do raters disagree? Berg and co-authors decomposed it. Fifty-six percent is</a:t>
            </a:r>
          </a:p>
          <a:p>
            <a:r>
              <a:t>measurement. Thirty-eight percent is scope. Only six percent is the pillar</a:t>
            </a:r>
          </a:p>
          <a:p>
            <a:r>
              <a:t>weighting, which is the only part anyone lets you touch.</a:t>
            </a:r>
          </a:p>
          <a:p/>
          <a:p>
            <a:r>
              <a:t>So we attack the ninety-four percent. Nine choices where MSCI and Bloomberg</a:t>
            </a:r>
          </a:p>
          <a:p>
            <a:r>
              <a:t>publish different specifications, every combination.</a:t>
            </a:r>
          </a:p>
          <a:p/>
          <a:p>
            <a:r>
              <a:t>Right: all eighteen companies, both questions. Bar length is how far the answer</a:t>
            </a:r>
          </a:p>
          <a:p>
            <a:r>
              <a:t>moves on method alone."</a:t>
            </a:r>
          </a:p>
          <a:p/>
          <a:p>
            <a:r>
              <a:t>LAND 56 / 38 / 6 CLEARLY. Paraphrase the definition, do not read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 |  12 sec  |  32 spoken words  |  fast</a:t>
            </a:r>
          </a:p>
          <a:p/>
          <a:p>
            <a:r>
              <a:t>SAY:</a:t>
            </a:r>
          </a:p>
          <a:p>
            <a:r>
              <a:t>"Why energy? Hardest sector to score. Only three of thirty-seven environmental</a:t>
            </a:r>
          </a:p>
          <a:p>
            <a:r>
              <a:t>fields are reported by all eighteen companies. Scope Three is absent entirely,</a:t>
            </a:r>
          </a:p>
          <a:p>
            <a:r>
              <a:t>and we say so. Let me show you."</a:t>
            </a:r>
          </a:p>
          <a:p/>
          <a:p>
            <a:r>
              <a:t>THEN SWITCH TO THE BROWSER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 |  68 sec  |  170 spoken words  |  DO EXACTLY THIS</a:t>
            </a:r>
          </a:p>
          <a:p/>
          <a:p>
            <a:r>
              <a:t>1 (8s) "Eighteen companies ranked. Consensus here. This bar is how much of that</a:t>
            </a:r>
          </a:p>
          <a:p>
            <a:r>
              <a:t>   rank is a choice."</a:t>
            </a:r>
          </a:p>
          <a:p/>
          <a:p>
            <a:r>
              <a:t>2 (15s) DRAG THE ENVIRONMENT SLIDER.</a:t>
            </a:r>
          </a:p>
          <a:p>
            <a:r>
              <a:t>   "This is what every provider gives you. Pillar weights. It moves the median</a:t>
            </a:r>
          </a:p>
          <a:p>
            <a:r>
              <a:t>   company three places. That is the six percent."</a:t>
            </a:r>
          </a:p>
          <a:p/>
          <a:p>
            <a:r>
              <a:t>3 (20s) PIN Direction to LEVEL, then Evidence bar to STRICT.</a:t>
            </a:r>
          </a:p>
          <a:p>
            <a:r>
              <a:t>   "Here is what nobody gives you. This is the question I am asking. And this is</a:t>
            </a:r>
          </a:p>
          <a:p>
            <a:r>
              <a:t>   how demanding I am about evidence."</a:t>
            </a:r>
          </a:p>
          <a:p/>
          <a:p>
            <a:r>
              <a:t>4 (15s) POINT AT THE SETTLED COUNTER.</a:t>
            </a:r>
          </a:p>
          <a:p>
            <a:r>
              <a:t>   "Thirty-three of a hundred and fifty-three comparisons survive every method.</a:t>
            </a:r>
          </a:p>
          <a:p>
            <a:r>
              <a:t>   Raise the bar, fifty-six. A league table asserts all hundred and fifty-three."</a:t>
            </a:r>
          </a:p>
          <a:p/>
          <a:p>
            <a:r>
              <a:t>5 (10s) HOVER A POINT ON THE CURVE.</a:t>
            </a:r>
          </a:p>
          <a:p>
            <a:r>
              <a:t>   "Every point tells you which nine choices produced it. No black box."</a:t>
            </a:r>
          </a:p>
          <a:p/>
          <a:p>
            <a:r>
              <a:t>IF IT BREAKS: skip to the last slide, say "numbers are in the paper, tool is in</a:t>
            </a:r>
          </a:p>
          <a:p>
            <a:r>
              <a:t>the repo". Never debug on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BONUS + CLOSE  |  28 sec  |  70 spoken words</a:t>
            </a:r>
          </a:p>
          <a:p/>
          <a:p>
            <a:r>
              <a:t>SAY:</a:t>
            </a:r>
          </a:p>
          <a:p>
            <a:r>
              <a:t>"The bonus. The thesis is that crossing an ESG threshold unlocks a wall of</a:t>
            </a:r>
          </a:p>
          <a:p>
            <a:r>
              <a:t>capital. We tested it. There is no threshold: fifteen of eighteen companies sit</a:t>
            </a:r>
          </a:p>
          <a:p>
            <a:r>
              <a:t>between twenty and eighty percent likely to pass a screen.</a:t>
            </a:r>
          </a:p>
          <a:p/>
          <a:p>
            <a:r>
              <a:t>So the trade is the gap between where a company stands and where it is heading.</a:t>
            </a:r>
          </a:p>
          <a:p>
            <a:r>
              <a:t>We go long the gap, short the structurally stuck, and sell when the gap closes.</a:t>
            </a:r>
          </a:p>
          <a:p/>
          <a:p>
            <a:r>
              <a:t>We give you the ranking the brief asked for, and the honest error bar around it.</a:t>
            </a:r>
          </a:p>
          <a:p>
            <a:r>
              <a:t>Thank you."</a:t>
            </a:r>
          </a:p>
          <a:p/>
          <a:p>
            <a:r>
              <a:t>STOP AT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04A12"/>
                </a:solidFill>
                <a:latin typeface="Calibri"/>
              </a:rPr>
              <a:t>MARATHON PETROLEUM  ·  SAME DATA  ·  SAME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>
                <a:solidFill>
                  <a:srgbClr val="3D3C38"/>
                </a:solidFill>
                <a:latin typeface="Calibri"/>
              </a:rPr>
              <a:t>One company. Two defensible methods.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057400"/>
            <a:ext cx="5029200" cy="265176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4389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2800" b="1">
                <a:solidFill>
                  <a:srgbClr val="101010"/>
                </a:solidFill>
                <a:latin typeface="Calibri"/>
              </a:rPr>
              <a:t>15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2800" b="0">
                <a:solidFill>
                  <a:srgbClr val="3D3C38"/>
                </a:solidFill>
                <a:latin typeface="Calibri"/>
              </a:rPr>
              <a:t>th of 18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700" b="0">
                <a:solidFill>
                  <a:srgbClr val="6B6A63"/>
                </a:solidFill>
                <a:latin typeface="Calibri"/>
              </a:rPr>
              <a:t>on how clean it is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057400"/>
            <a:ext cx="5029200" cy="265176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2331720"/>
            <a:ext cx="4389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2800" b="1">
                <a:solidFill>
                  <a:srgbClr val="C04A12"/>
                </a:solidFill>
                <a:latin typeface="Calibri"/>
              </a:rPr>
              <a:t>6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2800" b="0">
                <a:solidFill>
                  <a:srgbClr val="C04A12"/>
                </a:solidFill>
                <a:latin typeface="Calibri"/>
              </a:rPr>
              <a:t>th of 18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1700" b="0">
                <a:solidFill>
                  <a:srgbClr val="6B6A63"/>
                </a:solidFill>
                <a:latin typeface="Calibri"/>
              </a:rPr>
              <a:t>on how fast it is improving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5029200"/>
            <a:ext cx="10607040" cy="381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25780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01010"/>
                </a:solidFill>
                <a:latin typeface="Calibri"/>
              </a:rPr>
              <a:t>Nine places apart. Neither number is a mistake.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C04A12"/>
                </a:solidFill>
                <a:latin typeface="Calibri"/>
              </a:rPr>
              <a:t>An ESG score is one answer to a question nobody wrote down.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04A12"/>
                </a:solidFill>
                <a:latin typeface="Calibri"/>
              </a:rPr>
              <a:t>WHAT WE MEASURE, AND WHY THE INDUSTRY DISAGREES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914400"/>
            <a:ext cx="5120640" cy="214884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115568"/>
            <a:ext cx="4572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C04A12"/>
                </a:solidFill>
                <a:latin typeface="Calibri"/>
              </a:rPr>
              <a:t>Our definition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>
                <a:solidFill>
                  <a:srgbClr val="101010"/>
                </a:solidFill>
                <a:latin typeface="Calibri"/>
              </a:rPr>
              <a:t>Less irreversible harm per unit of output than the peers making the same product, </a:t>
            </a:r>
            <a:r>
              <a:rPr sz="1700" b="1">
                <a:solidFill>
                  <a:srgbClr val="101010"/>
                </a:solidFill>
                <a:latin typeface="Calibri"/>
              </a:rPr>
              <a:t>and a balance sheet that survives the transition.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246120"/>
            <a:ext cx="5120640" cy="2651760"/>
          </a:xfrm>
          <a:prstGeom prst="rect">
            <a:avLst/>
          </a:prstGeom>
          <a:noFill/>
          <a:ln w="19050">
            <a:solidFill>
              <a:srgbClr val="1010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04A12"/>
                </a:solidFill>
                <a:latin typeface="Calibri"/>
              </a:rPr>
              <a:t>Why ratings disagree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88620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C04A12"/>
                </a:solidFill>
                <a:latin typeface="Calibri"/>
              </a:rPr>
              <a:t>56%</a:t>
            </a:r>
            <a:r>
              <a:rPr sz="1300" b="0">
                <a:solidFill>
                  <a:srgbClr val="101010"/>
                </a:solidFill>
                <a:latin typeface="Calibri"/>
              </a:rPr>
              <a:t>   measurement  ·  same thing, measured differently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53128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C04A12"/>
                </a:solidFill>
                <a:latin typeface="Calibri"/>
              </a:rPr>
              <a:t>38%</a:t>
            </a:r>
            <a:r>
              <a:rPr sz="1300" b="0">
                <a:solidFill>
                  <a:srgbClr val="101010"/>
                </a:solidFill>
                <a:latin typeface="Calibri"/>
              </a:rPr>
              <a:t>   scope  ·  what counts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020056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6B6A63"/>
                </a:solidFill>
                <a:latin typeface="Calibri"/>
              </a:rPr>
              <a:t>6%</a:t>
            </a:r>
            <a:r>
              <a:rPr sz="1300" b="0">
                <a:solidFill>
                  <a:srgbClr val="6B6A63"/>
                </a:solidFill>
                <a:latin typeface="Calibri"/>
              </a:rPr>
              <a:t>   weights  ·  the slider everyone argues about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532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>
                <a:solidFill>
                  <a:srgbClr val="6B6A63"/>
                </a:solidFill>
                <a:latin typeface="Calibri"/>
              </a:rPr>
              <a:t>Berg, Kolbel &amp; Rigobon, Review of Finance 2022</a:t>
            </a:r>
          </a:p>
        </p:txBody>
      </p:sp>
      <p:pic>
        <p:nvPicPr>
          <p:cNvPr id="12" name="Picture 11" descr="f1_two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5486400" cy="2590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172200" y="502920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00" b="1">
                <a:solidFill>
                  <a:srgbClr val="101010"/>
                </a:solidFill>
                <a:latin typeface="Calibri"/>
              </a:rPr>
              <a:t>All 18 companies, both specification curves.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00" b="0">
                <a:solidFill>
                  <a:srgbClr val="6B6A63"/>
                </a:solidFill>
                <a:latin typeface="Calibri"/>
              </a:rPr>
              <a:t>Blue is where they stand. Orange is where they are heading. The bars are how far the answer moves on method choice alone.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04A12"/>
                </a:solidFill>
                <a:latin typeface="Calibri"/>
              </a:rPr>
              <a:t>WHY THE ENERGY SECTOR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>
                <a:solidFill>
                  <a:srgbClr val="101010"/>
                </a:solidFill>
                <a:latin typeface="Calibri"/>
              </a:rPr>
              <a:t>The hardest place to score, so the best place to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5074920" cy="114300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305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C04A12"/>
                </a:solidFill>
                <a:latin typeface="Calibri"/>
              </a:rPr>
              <a:t>Only 3 of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243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D3C38"/>
                </a:solidFill>
                <a:latin typeface="Calibri"/>
              </a:rPr>
              <a:t>environmental fields are reported by all 18 companies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965960"/>
            <a:ext cx="5074920" cy="114300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305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C04A12"/>
                </a:solidFill>
                <a:latin typeface="Calibri"/>
              </a:rPr>
              <a:t>Scope 3 absent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243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D3C38"/>
                </a:solidFill>
                <a:latin typeface="Calibri"/>
              </a:rPr>
              <a:t>from every field Bloomberg delivers for these peer groups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37560"/>
            <a:ext cx="5074920" cy="114300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021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C04A12"/>
                </a:solidFill>
                <a:latin typeface="Calibri"/>
              </a:rPr>
              <a:t>FY2025 is 36%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959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D3C38"/>
                </a:solidFill>
                <a:latin typeface="Calibri"/>
              </a:rPr>
              <a:t>complete for environmental data. The lag is structural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37560"/>
            <a:ext cx="5074920" cy="114300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502152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>
                <a:solidFill>
                  <a:srgbClr val="C04A12"/>
                </a:solidFill>
                <a:latin typeface="Calibri"/>
              </a:rPr>
              <a:t>18 seconds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95928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3D3C38"/>
                </a:solidFill>
                <a:latin typeface="Calibri"/>
              </a:rPr>
              <a:t>to run all 17,496 specifications on a laptop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937760"/>
            <a:ext cx="10607040" cy="1051560"/>
          </a:xfrm>
          <a:prstGeom prst="rect">
            <a:avLst/>
          </a:prstGeom>
          <a:noFill/>
          <a:ln w="31750">
            <a:solidFill>
              <a:srgbClr val="C04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101010"/>
                </a:solidFill>
                <a:latin typeface="Calibri"/>
              </a:rPr>
              <a:t>If the framework survives here, it survives anywhere. </a:t>
            </a:r>
            <a:r>
              <a:rPr sz="2000" b="0">
                <a:solidFill>
                  <a:srgbClr val="101010"/>
                </a:solidFill>
                <a:latin typeface="Calibri"/>
              </a:rPr>
              <a:t>Now watch what happens when I change one convention.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>
                <a:solidFill>
                  <a:srgbClr val="C04A12"/>
                </a:solidFill>
                <a:latin typeface="Calibri"/>
              </a:rPr>
              <a:t>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Move one switch.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5600" b="1">
                <a:solidFill>
                  <a:srgbClr val="FFFFFF"/>
                </a:solidFill>
                <a:latin typeface="Calibri"/>
              </a:rPr>
              <a:t>Watch the ranking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B8B7B1"/>
                </a:solidFill>
                <a:latin typeface="Calibri"/>
              </a:rPr>
              <a:t>17,496 specifications, recomputed in the browser,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04A12"/>
                </a:solidFill>
                <a:latin typeface="Calibri"/>
              </a:rPr>
              <a:t>BONUS  ·  ONE BILLION DOLLARS UNDER A NET-ZERO COMMITMENT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0">
                <a:solidFill>
                  <a:srgbClr val="101010"/>
                </a:solidFill>
                <a:latin typeface="Calibri"/>
              </a:rPr>
              <a:t>Buy the companies the market </a:t>
            </a:r>
            <a:r>
              <a:rPr sz="3200" b="1">
                <a:solidFill>
                  <a:srgbClr val="C04A12"/>
                </a:solidFill>
                <a:latin typeface="Calibri"/>
              </a:rPr>
              <a:t>cannot yet classify.</a:t>
            </a:r>
          </a:p>
        </p:txBody>
      </p:sp>
      <p:pic>
        <p:nvPicPr>
          <p:cNvPr id="5" name="Picture 4" descr="f4_eli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5349240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37960" y="1691640"/>
            <a:ext cx="4846320" cy="3429000"/>
          </a:xfrm>
          <a:prstGeom prst="rect">
            <a:avLst/>
          </a:prstGeom>
          <a:solidFill>
            <a:srgbClr val="F2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920240"/>
            <a:ext cx="42976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000" b="1">
                <a:solidFill>
                  <a:srgbClr val="C04A12"/>
                </a:solidFill>
                <a:latin typeface="Calibri"/>
              </a:rPr>
              <a:t>15 of 18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3D3C38"/>
                </a:solidFill>
                <a:latin typeface="Calibri"/>
              </a:rPr>
              <a:t>companies are between 20% and 80% likely to pass a sustainable-fund screen.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3D3C38"/>
                </a:solidFill>
                <a:latin typeface="Calibri"/>
              </a:rPr>
              <a:t>There is no threshold to cross. So the trade is not crossing a line, it is the gap between where a company </a:t>
            </a:r>
            <a:r>
              <a:rPr sz="1500" b="1">
                <a:solidFill>
                  <a:srgbClr val="101010"/>
                </a:solidFill>
                <a:latin typeface="Calibri"/>
              </a:rPr>
              <a:t>stands</a:t>
            </a:r>
            <a:r>
              <a:rPr sz="1500" b="0">
                <a:solidFill>
                  <a:srgbClr val="3D3C38"/>
                </a:solidFill>
                <a:latin typeface="Calibri"/>
              </a:rPr>
              <a:t> and where it is </a:t>
            </a:r>
            <a:r>
              <a:rPr sz="1500" b="1">
                <a:solidFill>
                  <a:srgbClr val="101010"/>
                </a:solidFill>
                <a:latin typeface="Calibri"/>
              </a:rPr>
              <a:t>heading</a:t>
            </a:r>
            <a:r>
              <a:rPr sz="1500" b="0">
                <a:solidFill>
                  <a:srgbClr val="3D3C38"/>
                </a:solidFill>
                <a:latin typeface="Calibri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600" b="1">
                <a:solidFill>
                  <a:srgbClr val="C04A12"/>
                </a:solidFill>
                <a:latin typeface="Calibri"/>
              </a:rPr>
              <a:t>MPC +0.61    OXY +0.41    PSX +0.28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5440680"/>
            <a:ext cx="10607040" cy="38100"/>
          </a:xfrm>
          <a:prstGeom prst="rect">
            <a:avLst/>
          </a:prstGeom>
          <a:solidFill>
            <a:srgbClr val="10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0">
                <a:solidFill>
                  <a:srgbClr val="101010"/>
                </a:solidFill>
                <a:latin typeface="Calibri"/>
              </a:rPr>
              <a:t>We give you the ranking the brief asked for, </a:t>
            </a:r>
            <a:r>
              <a:rPr sz="2200" b="1">
                <a:solidFill>
                  <a:srgbClr val="C04A12"/>
                </a:solidFill>
                <a:latin typeface="Calibri"/>
              </a:rPr>
              <a:t>and the honest error bar around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