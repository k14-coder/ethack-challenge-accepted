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07040" cy="50800"/>
          </a:xfrm>
          <a:prstGeom prst="rect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6600" b="1">
                <a:solidFill>
                  <a:srgbClr val="101010"/>
                </a:solidFill>
                <a:latin typeface="Calibri"/>
              </a:rPr>
              <a:t>CONTESTED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8892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0">
                <a:solidFill>
                  <a:srgbClr val="3D3C38"/>
                </a:solidFill>
                <a:latin typeface="Calibri"/>
              </a:rPr>
              <a:t>Every ESG score is one answer to a question nobody wrote 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04A12"/>
                </a:solidFill>
                <a:latin typeface="Calibri"/>
              </a:rPr>
              <a:t>We publish the question, the answer, and how much the answer depends on the question.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80560"/>
            <a:ext cx="10607040" cy="25400"/>
          </a:xfrm>
          <a:prstGeom prst="rect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7091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6B6A63"/>
                </a:solidFill>
                <a:latin typeface="Calibri"/>
              </a:rPr>
              <a:t>18 S&amp;P 500 Energy companies  ·  138 indicators  ·  17,496 defensible scores each  ·  live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3"/>
                </a:solidFill>
                <a:latin typeface="Calibri"/>
              </a:rPr>
              <a:t>ETHack 2026 · Challenge #1 · Citadel &amp; Citadel Securities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04A12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>
                <a:solidFill>
                  <a:srgbClr val="101010"/>
                </a:solidFill>
                <a:latin typeface="Calibri"/>
              </a:rPr>
              <a:t>The market buys a point estimate of a quantity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>
                <a:solidFill>
                  <a:srgbClr val="C04A12"/>
                </a:solidFill>
                <a:latin typeface="Calibri"/>
              </a:rPr>
              <a:t>that has no point estimate.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3246120" cy="169164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69748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200" b="1">
                <a:solidFill>
                  <a:srgbClr val="3D3C38"/>
                </a:solidFill>
                <a:latin typeface="Calibri"/>
              </a:rPr>
              <a:t>0.99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5204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D3C38"/>
                </a:solidFill>
                <a:latin typeface="Calibri"/>
              </a:rPr>
              <a:t>credit ratings agree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468880"/>
            <a:ext cx="3246120" cy="169164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69748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200" b="1">
                <a:solidFill>
                  <a:srgbClr val="C04A12"/>
                </a:solidFill>
                <a:latin typeface="Calibri"/>
              </a:rPr>
              <a:t>0.61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5204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D3C38"/>
                </a:solidFill>
                <a:latin typeface="Calibri"/>
              </a:rPr>
              <a:t>ESG ratings agree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2468880"/>
            <a:ext cx="3246120" cy="169164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69748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200" b="1">
                <a:solidFill>
                  <a:srgbClr val="3D3C38"/>
                </a:solidFill>
                <a:latin typeface="Calibri"/>
              </a:rPr>
              <a:t>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35204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D3C38"/>
                </a:solidFill>
                <a:latin typeface="Calibri"/>
              </a:rPr>
              <a:t>of the gap is pillar weights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2628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3D3C38"/>
                </a:solidFill>
                <a:latin typeface="Calibri"/>
              </a:rPr>
              <a:t>Providers compute a distribution over method choices, publish one draw, and throw the rest away. </a:t>
            </a:r>
            <a:r>
              <a:rPr sz="2000" b="1">
                <a:solidFill>
                  <a:srgbClr val="101010"/>
                </a:solidFill>
                <a:latin typeface="Calibri"/>
              </a:rPr>
              <a:t>The thrown-away part is the part an allocator needs.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3"/>
                </a:solidFill>
                <a:latin typeface="Calibri"/>
              </a:rPr>
              <a:t>Berg, Kölbel &amp; Rigobon, Review of Finance 2022. Divergence: measurement 56%, scope 38%, weights 6%.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04A12"/>
                </a:solidFill>
                <a:latin typeface="Calibri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0">
                <a:solidFill>
                  <a:srgbClr val="101010"/>
                </a:solidFill>
                <a:latin typeface="Calibri"/>
              </a:rPr>
              <a:t>We read MSCI's and Bloomberg's methodologies and found </a:t>
            </a:r>
            <a:r>
              <a:rPr sz="2900" b="1">
                <a:solidFill>
                  <a:srgbClr val="101010"/>
                </a:solidFill>
                <a:latin typeface="Calibri"/>
              </a:rPr>
              <a:t>13 places a rater must choose.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>
                <a:solidFill>
                  <a:srgbClr val="3D3C38"/>
                </a:solidFill>
                <a:latin typeface="Calibri"/>
              </a:rPr>
              <a:t>They differ at seven. We vary those, fix the rest, and declare every assumption.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3246120" cy="86868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35915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101010"/>
                </a:solidFill>
                <a:latin typeface="Calibri"/>
              </a:rPr>
              <a:t>Exposure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69748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6B6A63"/>
                </a:solidFill>
                <a:latin typeface="Calibri"/>
              </a:rPr>
              <a:t>EBITDA · equity · output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240280"/>
            <a:ext cx="3246120" cy="86868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35915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101010"/>
                </a:solidFill>
                <a:latin typeface="Calibri"/>
              </a:rPr>
              <a:t>Normaliser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69748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6B6A63"/>
                </a:solidFill>
                <a:latin typeface="Calibri"/>
              </a:rPr>
              <a:t>percentile · winsorised · log · elasticity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2240280"/>
            <a:ext cx="3246120" cy="86868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2168" y="235915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101010"/>
                </a:solidFill>
                <a:latin typeface="Calibri"/>
              </a:rPr>
              <a:t>Evidence bar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2168" y="269748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6B6A63"/>
                </a:solidFill>
                <a:latin typeface="Calibri"/>
              </a:rPr>
              <a:t>permissive · majority · strict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264408"/>
            <a:ext cx="3246120" cy="86868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38328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101010"/>
                </a:solidFill>
                <a:latin typeface="Calibri"/>
              </a:rPr>
              <a:t>Missing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3721608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6B6A63"/>
                </a:solidFill>
                <a:latin typeface="Calibri"/>
              </a:rPr>
              <a:t>excluded · worst case · capped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3264408"/>
            <a:ext cx="3246120" cy="86868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338328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101010"/>
                </a:solidFill>
                <a:latin typeface="Calibri"/>
              </a:rPr>
              <a:t>Aggregation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3721608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6B6A63"/>
                </a:solidFill>
                <a:latin typeface="Calibri"/>
              </a:rPr>
              <a:t>arithmetic · power · geometric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264408"/>
            <a:ext cx="3246120" cy="86868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02168" y="338328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101010"/>
                </a:solidFill>
                <a:latin typeface="Calibri"/>
              </a:rPr>
              <a:t>Pillar weights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3721608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6B6A63"/>
                </a:solidFill>
                <a:latin typeface="Calibri"/>
              </a:rPr>
              <a:t>user slider, five presets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480560"/>
            <a:ext cx="10607040" cy="914400"/>
          </a:xfrm>
          <a:prstGeom prst="rect">
            <a:avLst/>
          </a:prstGeom>
          <a:noFill/>
          <a:ln w="31750">
            <a:solidFill>
              <a:srgbClr val="C04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6634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>
                <a:solidFill>
                  <a:srgbClr val="101010"/>
                </a:solidFill>
                <a:latin typeface="Calibri"/>
              </a:rPr>
              <a:t>Then the correction that mattered: </a:t>
            </a:r>
            <a:r>
              <a:rPr sz="1900" b="1">
                <a:solidFill>
                  <a:srgbClr val="101010"/>
                </a:solidFill>
                <a:latin typeface="Calibri"/>
              </a:rPr>
              <a:t>“best today” and “improving fastest” are different questions.</a:t>
            </a:r>
            <a:r>
              <a:rPr sz="1900" b="0">
                <a:solidFill>
                  <a:srgbClr val="101010"/>
                </a:solidFill>
                <a:latin typeface="Calibri"/>
              </a:rPr>
              <a:t> We score them separately.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3"/>
                </a:solidFill>
                <a:latin typeface="Calibri"/>
              </a:rPr>
              <a:t>Specification curve analysis, Simonsohn, Simmons &amp; Nelson, Nature Human Behaviour 2020.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04A12"/>
                </a:solidFill>
                <a:latin typeface="Calibri"/>
              </a:rPr>
              <a:t>THE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5669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200" b="1">
                <a:solidFill>
                  <a:srgbClr val="C04A12"/>
                </a:solidFill>
                <a:latin typeface="Calibri"/>
              </a:rPr>
              <a:t>33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200" b="1">
                <a:solidFill>
                  <a:srgbClr val="101010"/>
                </a:solidFill>
                <a:latin typeface="Calibri"/>
              </a:rPr>
              <a:t>of 153 pairwise comparisons survive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200" b="1">
                <a:solidFill>
                  <a:srgbClr val="101010"/>
                </a:solidFill>
                <a:latin typeface="Calibri"/>
              </a:rPr>
              <a:t>every defensible method.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00" b="0">
                <a:solidFill>
                  <a:srgbClr val="3D3C38"/>
                </a:solidFill>
                <a:latin typeface="Calibri"/>
              </a:rPr>
              <a:t>A published league table asserts all 153.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566160"/>
            <a:ext cx="5669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900" b="0">
                <a:solidFill>
                  <a:srgbClr val="3D3C38"/>
                </a:solidFill>
                <a:latin typeface="Calibri"/>
              </a:rPr>
              <a:t>The median company still moves </a:t>
            </a:r>
            <a:r>
              <a:rPr sz="1900" b="1">
                <a:solidFill>
                  <a:srgbClr val="C04A12"/>
                </a:solidFill>
                <a:latin typeface="Calibri"/>
              </a:rPr>
              <a:t>3 places of 18</a:t>
            </a:r>
            <a:r>
              <a:rPr sz="1900" b="0">
                <a:solidFill>
                  <a:srgbClr val="3D3C38"/>
                </a:solidFill>
                <a:latin typeface="Calibri"/>
              </a:rPr>
              <a:t> on method choice alone, after we hold the question and the peer group fixed.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700" b="0">
                <a:solidFill>
                  <a:srgbClr val="6B6A63"/>
                </a:solidFill>
                <a:latin typeface="Calibri"/>
              </a:rPr>
              <a:t>Two axes decide it: what you ask, and who you ask it against. Neither is a weight.</a:t>
            </a:r>
          </a:p>
        </p:txBody>
      </p:sp>
      <p:pic>
        <p:nvPicPr>
          <p:cNvPr id="6" name="Picture 5" descr="f3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051560"/>
            <a:ext cx="4846320" cy="1817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20840" y="48920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6B6A63"/>
                </a:solidFill>
                <a:latin typeface="Calibri"/>
              </a:rPr>
              <a:t>Share of a company's rank variance, by choice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3"/>
                </a:solidFill>
                <a:latin typeface="Calibri"/>
              </a:rPr>
              <a:t>Full grid runs in 18 seconds. Every figure regenerates from the committed pipeline.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C04A12"/>
                </a:solidFill>
                <a:latin typeface="Calibri"/>
              </a:rPr>
              <a:t>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5176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Calibri"/>
              </a:rPr>
              <a:t>Move a slider. Watch the ranking change.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1148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B8B7B1"/>
                </a:solidFill>
                <a:latin typeface="Calibri"/>
              </a:rPr>
              <a:t>17,496 specifications, recomputed in the browser, in real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C04A12"/>
                </a:solidFill>
                <a:latin typeface="Calibri"/>
              </a:rPr>
              <a:t>BONUS · $1BN UNDER A NET-ZERO COMMITMENT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100" b="0">
                <a:solidFill>
                  <a:srgbClr val="101010"/>
                </a:solidFill>
                <a:latin typeface="Calibri"/>
              </a:rPr>
              <a:t>Buy the companies the market </a:t>
            </a:r>
            <a:r>
              <a:rPr sz="3100" b="1">
                <a:solidFill>
                  <a:srgbClr val="C04A12"/>
                </a:solidFill>
                <a:latin typeface="Calibri"/>
              </a:rPr>
              <a:t>cannot yet classify.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>
                <a:solidFill>
                  <a:srgbClr val="3D3C38"/>
                </a:solidFill>
                <a:latin typeface="Calibri"/>
              </a:rPr>
              <a:t>We tested the “ESG threshold unlocks capital” thesis on our own data. There is no threshold.</a:t>
            </a:r>
          </a:p>
        </p:txBody>
      </p:sp>
      <p:pic>
        <p:nvPicPr>
          <p:cNvPr id="6" name="Picture 5" descr="f4_elig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5394960" cy="2397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37960" y="2103120"/>
            <a:ext cx="4846320" cy="3200400"/>
          </a:xfrm>
          <a:prstGeom prst="rect">
            <a:avLst/>
          </a:prstGeom>
          <a:solidFill>
            <a:srgbClr val="F2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2331720"/>
            <a:ext cx="43891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3400" b="1">
                <a:solidFill>
                  <a:srgbClr val="C04A12"/>
                </a:solidFill>
                <a:latin typeface="Calibri"/>
              </a:rPr>
              <a:t>15 of 18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0">
                <a:solidFill>
                  <a:srgbClr val="3D3C38"/>
                </a:solidFill>
                <a:latin typeface="Calibri"/>
              </a:rPr>
              <a:t>companies sit between 20% and 80% likely to pass a top-half screen.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0">
                <a:solidFill>
                  <a:srgbClr val="3D3C38"/>
                </a:solidFill>
                <a:latin typeface="Calibri"/>
              </a:rPr>
              <a:t>So the tradeable number is not crossing a line. It is the gap between where a company </a:t>
            </a:r>
            <a:r>
              <a:rPr sz="1500" b="1">
                <a:solidFill>
                  <a:srgbClr val="101010"/>
                </a:solidFill>
                <a:latin typeface="Calibri"/>
              </a:rPr>
              <a:t>stands</a:t>
            </a:r>
            <a:r>
              <a:rPr sz="1500" b="0">
                <a:solidFill>
                  <a:srgbClr val="3D3C38"/>
                </a:solidFill>
                <a:latin typeface="Calibri"/>
              </a:rPr>
              <a:t> and where it is </a:t>
            </a:r>
            <a:r>
              <a:rPr sz="1500" b="1">
                <a:solidFill>
                  <a:srgbClr val="101010"/>
                </a:solidFill>
                <a:latin typeface="Calibri"/>
              </a:rPr>
              <a:t>heading</a:t>
            </a:r>
            <a:r>
              <a:rPr sz="1500" b="0">
                <a:solidFill>
                  <a:srgbClr val="3D3C38"/>
                </a:solidFill>
                <a:latin typeface="Calibri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C04A12"/>
                </a:solidFill>
                <a:latin typeface="Calibri"/>
              </a:rPr>
              <a:t>MPC +0.61   OXY +0.41   PSX +0.28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>
                <a:solidFill>
                  <a:srgbClr val="6B6A63"/>
                </a:solidFill>
                <a:latin typeface="Calibri"/>
              </a:rPr>
              <a:t>Long the gap, short the structurally stuck, exit into eligibility.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623560"/>
            <a:ext cx="10607040" cy="25400"/>
          </a:xfrm>
          <a:prstGeom prst="rect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>
                <a:solidFill>
                  <a:srgbClr val="101010"/>
                </a:solidFill>
                <a:latin typeface="Calibri"/>
              </a:rPr>
              <a:t>We deliver the ranking the brief asked for, and the honest error bar around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