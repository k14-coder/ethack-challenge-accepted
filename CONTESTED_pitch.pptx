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  32 sec  |  78 spoken words  |  slow, this is the whole pitch</a:t>
            </a:r>
          </a:p>
          <a:p/>
          <a:p>
            <a:r>
              <a:t>SAY:</a:t>
            </a:r>
          </a:p>
          <a:p>
            <a:r>
              <a:t>"Marathon Petroleum. Fifteenth of eighteen energy companies on how clean it is</a:t>
            </a:r>
          </a:p>
          <a:p>
            <a:r>
              <a:t>today. Sixth of eighteen on how fast it is improving.</a:t>
            </a:r>
          </a:p>
          <a:p/>
          <a:p>
            <a:r>
              <a:t>Same company. Same data. Same year.</a:t>
            </a:r>
          </a:p>
          <a:p/>
          <a:p>
            <a:r>
              <a:t>[PAUSE ONE BEAT]</a:t>
            </a:r>
          </a:p>
          <a:p/>
          <a:p>
            <a:r>
              <a:t>Neither number is wrong. They answer two different questions, and the rating</a:t>
            </a:r>
          </a:p>
          <a:p>
            <a:r>
              <a:t>industry publishes one of them without telling you which.</a:t>
            </a:r>
          </a:p>
          <a:p/>
          <a:p>
            <a:r>
              <a:t>That is what an ESG score is. One answer to a question nobody wrote down.</a:t>
            </a:r>
          </a:p>
          <a:p>
            <a:r>
              <a:t>We publish the question, the answer, and how much the answer depends on the</a:t>
            </a:r>
          </a:p>
          <a:p>
            <a:r>
              <a:t>question."</a:t>
            </a:r>
          </a:p>
          <a:p/>
          <a:p>
            <a:r>
              <a:t>DO NOT say methodology, specification or grid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 + STUDY + COMPANIES  |  40 sec  |  103 spoken words</a:t>
            </a:r>
          </a:p>
          <a:p/>
          <a:p>
            <a:r>
              <a:t>SAY:</a:t>
            </a:r>
          </a:p>
          <a:p>
            <a:r>
              <a:t>"Our definition: less irreversible harm per unit of output than the peers making</a:t>
            </a:r>
          </a:p>
          <a:p>
            <a:r>
              <a:t>the same product, and a balance sheet that survives the transition. Financial</a:t>
            </a:r>
          </a:p>
          <a:p>
            <a:r>
              <a:t>resilience is in there because a company in distress cuts abatement first.</a:t>
            </a:r>
          </a:p>
          <a:p/>
          <a:p>
            <a:r>
              <a:t>Why do raters disagree? Berg and co-authors decomposed it. Fifty-six percent is</a:t>
            </a:r>
          </a:p>
          <a:p>
            <a:r>
              <a:t>measurement. Thirty-eight percent is scope. Only six percent is the pillar</a:t>
            </a:r>
          </a:p>
          <a:p>
            <a:r>
              <a:t>weighting, which is the only part anyone lets you touch.</a:t>
            </a:r>
          </a:p>
          <a:p/>
          <a:p>
            <a:r>
              <a:t>So we attack the ninety-four percent. Nine choices where MSCI and Bloomberg</a:t>
            </a:r>
          </a:p>
          <a:p>
            <a:r>
              <a:t>publish different specifications, every combination.</a:t>
            </a:r>
          </a:p>
          <a:p/>
          <a:p>
            <a:r>
              <a:t>Right: all eighteen companies, both questions. Bar length is how far the answer</a:t>
            </a:r>
          </a:p>
          <a:p>
            <a:r>
              <a:t>moves on method alone."</a:t>
            </a:r>
          </a:p>
          <a:p/>
          <a:p>
            <a:r>
              <a:t>LAND 56 / 38 / 6 CLEARLY. Paraphrase the definition, do not read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14 sec  |  38 spoken words  |  then switch to the browser</a:t>
            </a:r>
          </a:p>
          <a:p/>
          <a:p>
            <a:r>
              <a:t>SAY:</a:t>
            </a:r>
          </a:p>
          <a:p>
            <a:r>
              <a:t>"Why energy? Because raters disagree here more than in any other sector, 0.55</a:t>
            </a:r>
          </a:p>
          <a:p>
            <a:r>
              <a:t>against 0.77 in tech. It is also the thinnest data: three of thirty-seven</a:t>
            </a:r>
          </a:p>
          <a:p>
            <a:r>
              <a:t>environmental fields are reported by all eighteen companies, and Scope 3 is</a:t>
            </a:r>
          </a:p>
          <a:p>
            <a:r>
              <a:t>absent entirely.</a:t>
            </a:r>
          </a:p>
          <a:p/>
          <a:p>
            <a:r>
              <a:t>So does our measure behave? It should report more uncertainty where the evidence</a:t>
            </a:r>
          </a:p>
          <a:p>
            <a:r>
              <a:t>is thinner, and it does: correlation minus 0.83 across the four pillars.</a:t>
            </a:r>
          </a:p>
          <a:p/>
          <a:p>
            <a:r>
              <a:t>We do not claim this generalises to other sectors. We claim it separates what</a:t>
            </a:r>
          </a:p>
          <a:p>
            <a:r>
              <a:t>the data supports from what it does not. Let me show you."</a:t>
            </a:r>
          </a:p>
          <a:p/>
          <a:p>
            <a:r>
              <a:t>CAUTION: the 0.55 figure is Lopez 2020, reached through Nasdaq's 2024 ESG</a:t>
            </a:r>
          </a:p>
          <a:p>
            <a:r>
              <a:t>ratings review. If challenged, say it is a secondary citation and we have not</a:t>
            </a:r>
          </a:p>
          <a:p>
            <a:r>
              <a:t>read Lopez directly. Do not claim to have.</a:t>
            </a:r>
          </a:p>
          <a:p/>
          <a:p>
            <a:r>
              <a:t>DO NOT say "if it survives here it survives anywhere". We never defined surviving</a:t>
            </a:r>
          </a:p>
          <a:p>
            <a:r>
              <a:t>and the four data facts do not show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  68 sec  |  FOUR CLICKS, NOTHING ELSE</a:t>
            </a:r>
          </a:p>
          <a:p>
            <a:r>
              <a:t>Every number below is verified against the live tool.</a:t>
            </a:r>
          </a:p>
          <a:p/>
          <a:p>
            <a:r>
              <a:t>0 (8s) POINT AT THE TABLE, do not click.</a:t>
            </a:r>
          </a:p>
          <a:p>
            <a:r>
              <a:t>   "Eighteen companies ranked. Consensus here. This bar is how much of that</a:t>
            </a:r>
          </a:p>
          <a:p>
            <a:r>
              <a:t>   rank is a choice, not a fact."</a:t>
            </a:r>
          </a:p>
          <a:p/>
          <a:p>
            <a:r>
              <a:t>1 (15s) DRAG THE ENVIRONMENT SLIDER TO ~70%.</a:t>
            </a:r>
          </a:p>
          <a:p>
            <a:r>
              <a:t>   "This is what every provider gives you. Pillar weights. Watch the settled</a:t>
            </a:r>
          </a:p>
          <a:p>
            <a:r>
              <a:t>   counter. [pause] It does not move. Still two. That is the six percent, live."</a:t>
            </a:r>
          </a:p>
          <a:p>
            <a:r>
              <a:t>   SCREEN: specs stay 17,496, settled stays 2. NOTHING BIG HAPPENS. That is the</a:t>
            </a:r>
          </a:p>
          <a:p>
            <a:r>
              <a:t>   point. Do not promise a move here.</a:t>
            </a:r>
          </a:p>
          <a:p/>
          <a:p>
            <a:r>
              <a:t>2 (18s) HIT RESET ALL. PIN Direction to LEVEL.</a:t>
            </a:r>
          </a:p>
          <a:p>
            <a:r>
              <a:t>   "Now the part nobody gives you. This is the question itself. Cleanest today,</a:t>
            </a:r>
          </a:p>
          <a:p>
            <a:r>
              <a:t>   or improving fastest? I pin it to today. Settled goes from two to</a:t>
            </a:r>
          </a:p>
          <a:p>
            <a:r>
              <a:t>   thirty-three."</a:t>
            </a:r>
          </a:p>
          <a:p>
            <a:r>
              <a:t>   SCREEN: 8,748 specs, settled 33, places 5.0</a:t>
            </a:r>
          </a:p>
          <a:p/>
          <a:p>
            <a:r>
              <a:t>3 (15s) PIN Evidence bar to STRICT.</a:t>
            </a:r>
          </a:p>
          <a:p>
            <a:r>
              <a:t>   "And this is how demanding I am about evidence. Thirty-three to fifty-six.</a:t>
            </a:r>
          </a:p>
          <a:p>
            <a:r>
              <a:t>   A published league table asserts all hundred and fifty-three."</a:t>
            </a:r>
          </a:p>
          <a:p>
            <a:r>
              <a:t>   SCREEN: 2,916 specs, settled 56, places 3.0</a:t>
            </a:r>
          </a:p>
          <a:p/>
          <a:p>
            <a:r>
              <a:t>4 (12s) FLIP Direction to CHANGE.</a:t>
            </a:r>
          </a:p>
          <a:p>
            <a:r>
              <a:t>   "Same data, same strictness, other question. Fifty-six collapses to nine.</a:t>
            </a:r>
          </a:p>
          <a:p>
            <a:r>
              <a:t>   And look at the podium, three completely different companies. That is why we</a:t>
            </a:r>
          </a:p>
          <a:p>
            <a:r>
              <a:t>   score the two curves separately."</a:t>
            </a:r>
          </a:p>
          <a:p>
            <a:r>
              <a:t>   SCREEN: settled 9, places 6.0, top three flips BKR/EXE/SLB to CTRA/OXY/WMB</a:t>
            </a:r>
          </a:p>
          <a:p/>
          <a:p>
            <a:r>
              <a:t>HAND OVER: "Which brings us to the billion dollars."</a:t>
            </a:r>
          </a:p>
          <a:p/>
          <a:p>
            <a:r>
              <a:t>IF IT BREAKS: "The tool is in the repo and every number is in the paper."</a:t>
            </a:r>
          </a:p>
          <a:p>
            <a:r>
              <a:t>Go straight to the bonus slide. Never debug on stage.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CLOSE  |  28 sec  |  70 spoken words</a:t>
            </a:r>
          </a:p>
          <a:p/>
          <a:p>
            <a:r>
              <a:t>SAY:</a:t>
            </a:r>
          </a:p>
          <a:p>
            <a:r>
              <a:t>"The bonus. The thesis is that crossing an ESG threshold unlocks a wall of</a:t>
            </a:r>
          </a:p>
          <a:p>
            <a:r>
              <a:t>capital. We tested it. There is no threshold: fifteen of eighteen companies sit</a:t>
            </a:r>
          </a:p>
          <a:p>
            <a:r>
              <a:t>between twenty and eighty percent likely to pass a screen.</a:t>
            </a:r>
          </a:p>
          <a:p/>
          <a:p>
            <a:r>
              <a:t>So the trade is the gap between where a company stands and where it is heading.</a:t>
            </a:r>
          </a:p>
          <a:p>
            <a:r>
              <a:t>We go long the gap, short the structurally stuck, and sell when the gap closes.</a:t>
            </a:r>
          </a:p>
          <a:p/>
          <a:p>
            <a:r>
              <a:t>We give you the ranking the brief asked for, and the honest error bar around it.</a:t>
            </a:r>
          </a:p>
          <a:p>
            <a:r>
              <a:t>Thank you."</a:t>
            </a:r>
          </a:p>
          <a:p/>
          <a:p>
            <a:r>
              <a:t>STOP AT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MARATHON PETROLEUM  ·  SAME DATA  ·  SAME YEAR</a:t>
            </a:r>
          </a:p>
        </p:txBody>
      </p:sp>
      <p:sp>
        <p:nvSpPr>
          <p:cNvPr id="4" name="TextBox 3"/>
          <p:cNvSpPr txBox="1"/>
          <p:nvPr/>
        </p:nvSpPr>
        <p:spPr>
          <a:xfrm>
            <a:off x="777240" y="1051560"/>
            <a:ext cx="10607040" cy="822960"/>
          </a:xfrm>
          <a:prstGeom prst="rect">
            <a:avLst/>
          </a:prstGeom>
          <a:noFill/>
        </p:spPr>
        <p:txBody>
          <a:bodyPr wrap="square" anchor="t" lIns="0" rIns="0" tIns="0" bIns="0">
            <a:spAutoFit/>
          </a:bodyPr>
          <a:lstStyle/>
          <a:p>
            <a:pPr algn="l">
              <a:lnSpc>
                <a:spcPct val="100000"/>
              </a:lnSpc>
              <a:spcAft>
                <a:spcPts val="600"/>
              </a:spcAft>
            </a:pPr>
            <a:r>
              <a:rPr sz="3400" b="0">
                <a:solidFill>
                  <a:srgbClr val="3D3C38"/>
                </a:solidFill>
                <a:latin typeface="Calibri"/>
              </a:rPr>
              <a:t>One company. Two defensible methods.</a:t>
            </a:r>
          </a:p>
        </p:txBody>
      </p:sp>
      <p:sp>
        <p:nvSpPr>
          <p:cNvPr id="5" name="Rectangle 4"/>
          <p:cNvSpPr/>
          <p:nvPr/>
        </p:nvSpPr>
        <p:spPr>
          <a:xfrm>
            <a:off x="777240" y="2057400"/>
            <a:ext cx="5029200" cy="2651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331720"/>
            <a:ext cx="4389120" cy="2194560"/>
          </a:xfrm>
          <a:prstGeom prst="rect">
            <a:avLst/>
          </a:prstGeom>
          <a:noFill/>
        </p:spPr>
        <p:txBody>
          <a:bodyPr wrap="square" anchor="t" lIns="0" rIns="0" tIns="0" bIns="0">
            <a:spAutoFit/>
          </a:bodyPr>
          <a:lstStyle/>
          <a:p>
            <a:pPr algn="l">
              <a:lnSpc>
                <a:spcPct val="85000"/>
              </a:lnSpc>
              <a:spcAft>
                <a:spcPts val="0"/>
              </a:spcAft>
            </a:pPr>
            <a:r>
              <a:rPr sz="12800" b="1">
                <a:solidFill>
                  <a:srgbClr val="101010"/>
                </a:solidFill>
                <a:latin typeface="Calibri"/>
              </a:rPr>
              <a:t>15</a:t>
            </a:r>
          </a:p>
          <a:p>
            <a:pPr algn="l">
              <a:lnSpc>
                <a:spcPct val="85000"/>
              </a:lnSpc>
              <a:spcAft>
                <a:spcPts val="0"/>
              </a:spcAft>
            </a:pPr>
            <a:r>
              <a:rPr sz="2800" b="0">
                <a:solidFill>
                  <a:srgbClr val="3D3C38"/>
                </a:solidFill>
                <a:latin typeface="Calibri"/>
              </a:rPr>
              <a:t>th of 18</a:t>
            </a:r>
          </a:p>
          <a:p>
            <a:pPr algn="l">
              <a:lnSpc>
                <a:spcPct val="85000"/>
              </a:lnSpc>
              <a:spcAft>
                <a:spcPts val="0"/>
              </a:spcAft>
            </a:pPr>
            <a:r>
              <a:rPr sz="1700" b="0">
                <a:solidFill>
                  <a:srgbClr val="6B6A63"/>
                </a:solidFill>
                <a:latin typeface="Calibri"/>
              </a:rPr>
              <a:t>on how clean it is today</a:t>
            </a:r>
          </a:p>
        </p:txBody>
      </p:sp>
      <p:sp>
        <p:nvSpPr>
          <p:cNvPr id="7" name="Rectangle 6"/>
          <p:cNvSpPr/>
          <p:nvPr/>
        </p:nvSpPr>
        <p:spPr>
          <a:xfrm>
            <a:off x="6355080" y="2057400"/>
            <a:ext cx="5029200" cy="2651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2331720"/>
            <a:ext cx="4389120" cy="2194560"/>
          </a:xfrm>
          <a:prstGeom prst="rect">
            <a:avLst/>
          </a:prstGeom>
          <a:noFill/>
        </p:spPr>
        <p:txBody>
          <a:bodyPr wrap="square" anchor="t" lIns="0" rIns="0" tIns="0" bIns="0">
            <a:spAutoFit/>
          </a:bodyPr>
          <a:lstStyle/>
          <a:p>
            <a:pPr algn="l">
              <a:lnSpc>
                <a:spcPct val="85000"/>
              </a:lnSpc>
              <a:spcAft>
                <a:spcPts val="0"/>
              </a:spcAft>
            </a:pPr>
            <a:r>
              <a:rPr sz="12800" b="1">
                <a:solidFill>
                  <a:srgbClr val="C04A12"/>
                </a:solidFill>
                <a:latin typeface="Calibri"/>
              </a:rPr>
              <a:t>6</a:t>
            </a:r>
          </a:p>
          <a:p>
            <a:pPr algn="l">
              <a:lnSpc>
                <a:spcPct val="85000"/>
              </a:lnSpc>
              <a:spcAft>
                <a:spcPts val="0"/>
              </a:spcAft>
            </a:pPr>
            <a:r>
              <a:rPr sz="2800" b="0">
                <a:solidFill>
                  <a:srgbClr val="C04A12"/>
                </a:solidFill>
                <a:latin typeface="Calibri"/>
              </a:rPr>
              <a:t>th of 18</a:t>
            </a:r>
          </a:p>
          <a:p>
            <a:pPr algn="l">
              <a:lnSpc>
                <a:spcPct val="85000"/>
              </a:lnSpc>
              <a:spcAft>
                <a:spcPts val="0"/>
              </a:spcAft>
            </a:pPr>
            <a:r>
              <a:rPr sz="1700" b="0">
                <a:solidFill>
                  <a:srgbClr val="6B6A63"/>
                </a:solidFill>
                <a:latin typeface="Calibri"/>
              </a:rPr>
              <a:t>on how fast it is improving</a:t>
            </a:r>
          </a:p>
        </p:txBody>
      </p:sp>
      <p:sp>
        <p:nvSpPr>
          <p:cNvPr id="9" name="Rectangle 8"/>
          <p:cNvSpPr/>
          <p:nvPr/>
        </p:nvSpPr>
        <p:spPr>
          <a:xfrm>
            <a:off x="777240" y="5029200"/>
            <a:ext cx="10607040" cy="381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257800"/>
            <a:ext cx="10607040" cy="1005840"/>
          </a:xfrm>
          <a:prstGeom prst="rect">
            <a:avLst/>
          </a:prstGeom>
          <a:noFill/>
        </p:spPr>
        <p:txBody>
          <a:bodyPr wrap="square" anchor="t" lIns="0" rIns="0" tIns="0" bIns="0">
            <a:spAutoFit/>
          </a:bodyPr>
          <a:lstStyle/>
          <a:p>
            <a:pPr algn="l">
              <a:lnSpc>
                <a:spcPct val="100000"/>
              </a:lnSpc>
              <a:spcAft>
                <a:spcPts val="400"/>
              </a:spcAft>
            </a:pPr>
            <a:r>
              <a:rPr sz="3000" b="1">
                <a:solidFill>
                  <a:srgbClr val="101010"/>
                </a:solidFill>
                <a:latin typeface="Calibri"/>
              </a:rPr>
              <a:t>Nine places apart. Neither number is a mistake.</a:t>
            </a:r>
          </a:p>
          <a:p>
            <a:pPr algn="l">
              <a:lnSpc>
                <a:spcPct val="100000"/>
              </a:lnSpc>
              <a:spcAft>
                <a:spcPts val="400"/>
              </a:spcAft>
            </a:pPr>
            <a:r>
              <a:rPr sz="2400" b="1">
                <a:solidFill>
                  <a:srgbClr val="C04A12"/>
                </a:solidFill>
                <a:latin typeface="Calibri"/>
              </a:rPr>
              <a:t>An ESG score is one answer to a question nobody wrote down.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WHAT WE MEASURE, AND WHY THE INDUSTRY DISAGREES</a:t>
            </a:r>
          </a:p>
        </p:txBody>
      </p:sp>
      <p:sp>
        <p:nvSpPr>
          <p:cNvPr id="4" name="Rectangle 3"/>
          <p:cNvSpPr/>
          <p:nvPr/>
        </p:nvSpPr>
        <p:spPr>
          <a:xfrm>
            <a:off x="777240" y="914400"/>
            <a:ext cx="5120640" cy="21488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115568"/>
            <a:ext cx="4572000" cy="1828800"/>
          </a:xfrm>
          <a:prstGeom prst="rect">
            <a:avLst/>
          </a:prstGeom>
          <a:noFill/>
        </p:spPr>
        <p:txBody>
          <a:bodyPr wrap="square" anchor="t" lIns="0" rIns="0" tIns="0" bIns="0">
            <a:spAutoFit/>
          </a:bodyPr>
          <a:lstStyle/>
          <a:p>
            <a:pPr algn="l">
              <a:lnSpc>
                <a:spcPct val="110000"/>
              </a:lnSpc>
              <a:spcAft>
                <a:spcPts val="600"/>
              </a:spcAft>
            </a:pPr>
            <a:r>
              <a:rPr sz="1300" b="1">
                <a:solidFill>
                  <a:srgbClr val="C04A12"/>
                </a:solidFill>
                <a:latin typeface="Calibri"/>
              </a:rPr>
              <a:t>Our definition</a:t>
            </a:r>
          </a:p>
          <a:p>
            <a:pPr algn="l">
              <a:lnSpc>
                <a:spcPct val="110000"/>
              </a:lnSpc>
              <a:spcAft>
                <a:spcPts val="600"/>
              </a:spcAft>
            </a:pPr>
            <a:r>
              <a:rPr sz="1700" b="0">
                <a:solidFill>
                  <a:srgbClr val="101010"/>
                </a:solidFill>
                <a:latin typeface="Calibri"/>
              </a:rPr>
              <a:t>Less irreversible harm per unit of output than the peers making the same product, </a:t>
            </a:r>
            <a:r>
              <a:rPr sz="1700" b="1">
                <a:solidFill>
                  <a:srgbClr val="101010"/>
                </a:solidFill>
                <a:latin typeface="Calibri"/>
              </a:rPr>
              <a:t>and a balance sheet that survives the transition.</a:t>
            </a:r>
          </a:p>
        </p:txBody>
      </p:sp>
      <p:sp>
        <p:nvSpPr>
          <p:cNvPr id="6" name="Rectangle 5"/>
          <p:cNvSpPr/>
          <p:nvPr/>
        </p:nvSpPr>
        <p:spPr>
          <a:xfrm>
            <a:off x="777240" y="3246120"/>
            <a:ext cx="5120640" cy="2651760"/>
          </a:xfrm>
          <a:prstGeom prst="rect">
            <a:avLst/>
          </a:prstGeom>
          <a:noFill/>
          <a:ln w="19050">
            <a:solidFill>
              <a:srgbClr val="101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3429000"/>
            <a:ext cx="457200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Why ratings disagree</a:t>
            </a:r>
          </a:p>
        </p:txBody>
      </p:sp>
      <p:sp>
        <p:nvSpPr>
          <p:cNvPr id="8" name="TextBox 7"/>
          <p:cNvSpPr txBox="1"/>
          <p:nvPr/>
        </p:nvSpPr>
        <p:spPr>
          <a:xfrm>
            <a:off x="1051560" y="3886200"/>
            <a:ext cx="4572000" cy="502920"/>
          </a:xfrm>
          <a:prstGeom prst="rect">
            <a:avLst/>
          </a:prstGeom>
          <a:noFill/>
        </p:spPr>
        <p:txBody>
          <a:bodyPr wrap="square" anchor="t" lIns="0" rIns="0" tIns="0" bIns="0">
            <a:spAutoFit/>
          </a:bodyPr>
          <a:lstStyle/>
          <a:p>
            <a:pPr algn="l">
              <a:lnSpc>
                <a:spcPct val="100000"/>
              </a:lnSpc>
              <a:spcAft>
                <a:spcPts val="0"/>
              </a:spcAft>
            </a:pPr>
            <a:r>
              <a:rPr sz="2600" b="1">
                <a:solidFill>
                  <a:srgbClr val="C04A12"/>
                </a:solidFill>
                <a:latin typeface="Calibri"/>
              </a:rPr>
              <a:t>56%</a:t>
            </a:r>
            <a:r>
              <a:rPr sz="1300" b="0">
                <a:solidFill>
                  <a:srgbClr val="101010"/>
                </a:solidFill>
                <a:latin typeface="Calibri"/>
              </a:rPr>
              <a:t>   measurement  ·  same thing, measured differently</a:t>
            </a:r>
          </a:p>
        </p:txBody>
      </p:sp>
      <p:sp>
        <p:nvSpPr>
          <p:cNvPr id="9" name="TextBox 8"/>
          <p:cNvSpPr txBox="1"/>
          <p:nvPr/>
        </p:nvSpPr>
        <p:spPr>
          <a:xfrm>
            <a:off x="1051560" y="4453128"/>
            <a:ext cx="4572000" cy="502920"/>
          </a:xfrm>
          <a:prstGeom prst="rect">
            <a:avLst/>
          </a:prstGeom>
          <a:noFill/>
        </p:spPr>
        <p:txBody>
          <a:bodyPr wrap="square" anchor="t" lIns="0" rIns="0" tIns="0" bIns="0">
            <a:spAutoFit/>
          </a:bodyPr>
          <a:lstStyle/>
          <a:p>
            <a:pPr algn="l">
              <a:lnSpc>
                <a:spcPct val="100000"/>
              </a:lnSpc>
              <a:spcAft>
                <a:spcPts val="0"/>
              </a:spcAft>
            </a:pPr>
            <a:r>
              <a:rPr sz="2600" b="1">
                <a:solidFill>
                  <a:srgbClr val="C04A12"/>
                </a:solidFill>
                <a:latin typeface="Calibri"/>
              </a:rPr>
              <a:t>38%</a:t>
            </a:r>
            <a:r>
              <a:rPr sz="1300" b="0">
                <a:solidFill>
                  <a:srgbClr val="101010"/>
                </a:solidFill>
                <a:latin typeface="Calibri"/>
              </a:rPr>
              <a:t>   scope  ·  what counts at all</a:t>
            </a:r>
          </a:p>
        </p:txBody>
      </p:sp>
      <p:sp>
        <p:nvSpPr>
          <p:cNvPr id="10" name="TextBox 9"/>
          <p:cNvSpPr txBox="1"/>
          <p:nvPr/>
        </p:nvSpPr>
        <p:spPr>
          <a:xfrm>
            <a:off x="1051560" y="5020056"/>
            <a:ext cx="4572000" cy="502920"/>
          </a:xfrm>
          <a:prstGeom prst="rect">
            <a:avLst/>
          </a:prstGeom>
          <a:noFill/>
        </p:spPr>
        <p:txBody>
          <a:bodyPr wrap="square" anchor="t" lIns="0" rIns="0" tIns="0" bIns="0">
            <a:spAutoFit/>
          </a:bodyPr>
          <a:lstStyle/>
          <a:p>
            <a:pPr algn="l">
              <a:lnSpc>
                <a:spcPct val="100000"/>
              </a:lnSpc>
              <a:spcAft>
                <a:spcPts val="0"/>
              </a:spcAft>
            </a:pPr>
            <a:r>
              <a:rPr sz="2600" b="1">
                <a:solidFill>
                  <a:srgbClr val="6B6A63"/>
                </a:solidFill>
                <a:latin typeface="Calibri"/>
              </a:rPr>
              <a:t>6%</a:t>
            </a:r>
            <a:r>
              <a:rPr sz="1300" b="0">
                <a:solidFill>
                  <a:srgbClr val="6B6A63"/>
                </a:solidFill>
                <a:latin typeface="Calibri"/>
              </a:rPr>
              <a:t>   weights  ·  the slider everyone argues about</a:t>
            </a:r>
          </a:p>
        </p:txBody>
      </p:sp>
      <p:sp>
        <p:nvSpPr>
          <p:cNvPr id="11" name="TextBox 10"/>
          <p:cNvSpPr txBox="1"/>
          <p:nvPr/>
        </p:nvSpPr>
        <p:spPr>
          <a:xfrm>
            <a:off x="1051560" y="5532120"/>
            <a:ext cx="4572000" cy="320040"/>
          </a:xfrm>
          <a:prstGeom prst="rect">
            <a:avLst/>
          </a:prstGeom>
          <a:noFill/>
        </p:spPr>
        <p:txBody>
          <a:bodyPr wrap="square" anchor="t" lIns="0" rIns="0" tIns="0" bIns="0">
            <a:spAutoFit/>
          </a:bodyPr>
          <a:lstStyle/>
          <a:p>
            <a:pPr algn="l">
              <a:lnSpc>
                <a:spcPct val="100000"/>
              </a:lnSpc>
              <a:spcAft>
                <a:spcPts val="600"/>
              </a:spcAft>
            </a:pPr>
            <a:r>
              <a:rPr sz="1000" b="0">
                <a:solidFill>
                  <a:srgbClr val="6B6A63"/>
                </a:solidFill>
                <a:latin typeface="Calibri"/>
              </a:rPr>
              <a:t>Berg, Kolbel &amp; Rigobon, Review of Finance 2022</a:t>
            </a:r>
          </a:p>
        </p:txBody>
      </p:sp>
      <p:pic>
        <p:nvPicPr>
          <p:cNvPr id="12" name="Picture 11" descr="f1_two_questions.png"/>
          <p:cNvPicPr>
            <a:picLocks noChangeAspect="1"/>
          </p:cNvPicPr>
          <p:nvPr/>
        </p:nvPicPr>
        <p:blipFill>
          <a:blip r:embed="rId2"/>
          <a:stretch>
            <a:fillRect/>
          </a:stretch>
        </p:blipFill>
        <p:spPr>
          <a:xfrm>
            <a:off x="6172200" y="960120"/>
            <a:ext cx="5486400" cy="2590800"/>
          </a:xfrm>
          <a:prstGeom prst="rect">
            <a:avLst/>
          </a:prstGeom>
        </p:spPr>
      </p:pic>
      <p:sp>
        <p:nvSpPr>
          <p:cNvPr id="13" name="TextBox 12"/>
          <p:cNvSpPr txBox="1"/>
          <p:nvPr/>
        </p:nvSpPr>
        <p:spPr>
          <a:xfrm>
            <a:off x="6172200" y="5029200"/>
            <a:ext cx="5486400" cy="822960"/>
          </a:xfrm>
          <a:prstGeom prst="rect">
            <a:avLst/>
          </a:prstGeom>
          <a:noFill/>
        </p:spPr>
        <p:txBody>
          <a:bodyPr wrap="square" anchor="t" lIns="0" rIns="0" tIns="0" bIns="0">
            <a:spAutoFit/>
          </a:bodyPr>
          <a:lstStyle/>
          <a:p>
            <a:pPr algn="l">
              <a:lnSpc>
                <a:spcPct val="110000"/>
              </a:lnSpc>
              <a:spcAft>
                <a:spcPts val="300"/>
              </a:spcAft>
            </a:pPr>
            <a:r>
              <a:rPr sz="1500" b="1">
                <a:solidFill>
                  <a:srgbClr val="101010"/>
                </a:solidFill>
                <a:latin typeface="Calibri"/>
              </a:rPr>
              <a:t>All 18 companies, both specification curves.</a:t>
            </a:r>
          </a:p>
          <a:p>
            <a:pPr algn="l">
              <a:lnSpc>
                <a:spcPct val="110000"/>
              </a:lnSpc>
              <a:spcAft>
                <a:spcPts val="300"/>
              </a:spcAft>
            </a:pPr>
            <a:r>
              <a:rPr sz="1300" b="0">
                <a:solidFill>
                  <a:srgbClr val="6B6A63"/>
                </a:solidFill>
                <a:latin typeface="Calibri"/>
              </a:rPr>
              <a:t>Blue is where they stand. Orange is where they are heading. The bars are how far the answer moves on method choice alone.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WHY THE ENERGY SECTOR</a:t>
            </a:r>
          </a:p>
        </p:txBody>
      </p:sp>
      <p:sp>
        <p:nvSpPr>
          <p:cNvPr id="4" name="TextBox 3"/>
          <p:cNvSpPr txBox="1"/>
          <p:nvPr/>
        </p:nvSpPr>
        <p:spPr>
          <a:xfrm>
            <a:off x="777240" y="868680"/>
            <a:ext cx="10607040" cy="685800"/>
          </a:xfrm>
          <a:prstGeom prst="rect">
            <a:avLst/>
          </a:prstGeom>
          <a:noFill/>
        </p:spPr>
        <p:txBody>
          <a:bodyPr wrap="square" anchor="t" lIns="0" rIns="0" tIns="0" bIns="0">
            <a:spAutoFit/>
          </a:bodyPr>
          <a:lstStyle/>
          <a:p>
            <a:pPr algn="l">
              <a:lnSpc>
                <a:spcPct val="100000"/>
              </a:lnSpc>
              <a:spcAft>
                <a:spcPts val="600"/>
              </a:spcAft>
            </a:pPr>
            <a:r>
              <a:rPr sz="3000" b="1">
                <a:solidFill>
                  <a:srgbClr val="101010"/>
                </a:solidFill>
                <a:latin typeface="Calibri"/>
              </a:rPr>
              <a:t>We picked the sector where the number does the most work.</a:t>
            </a:r>
          </a:p>
        </p:txBody>
      </p:sp>
      <p:sp>
        <p:nvSpPr>
          <p:cNvPr id="5" name="Rectangle 4"/>
          <p:cNvSpPr/>
          <p:nvPr/>
        </p:nvSpPr>
        <p:spPr>
          <a:xfrm>
            <a:off x="777240" y="1691640"/>
            <a:ext cx="5120640" cy="22860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74519"/>
            <a:ext cx="4572000" cy="3200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Raters disagree here more than anywhere</a:t>
            </a:r>
          </a:p>
        </p:txBody>
      </p:sp>
      <p:sp>
        <p:nvSpPr>
          <p:cNvPr id="7" name="TextBox 6"/>
          <p:cNvSpPr txBox="1"/>
          <p:nvPr/>
        </p:nvSpPr>
        <p:spPr>
          <a:xfrm>
            <a:off x="1051560" y="2286000"/>
            <a:ext cx="4572000" cy="1554480"/>
          </a:xfrm>
          <a:prstGeom prst="rect">
            <a:avLst/>
          </a:prstGeom>
          <a:noFill/>
        </p:spPr>
        <p:txBody>
          <a:bodyPr wrap="square" anchor="t" lIns="0" rIns="0" tIns="0" bIns="0">
            <a:spAutoFit/>
          </a:bodyPr>
          <a:lstStyle/>
          <a:p>
            <a:pPr algn="l">
              <a:lnSpc>
                <a:spcPct val="112000"/>
              </a:lnSpc>
              <a:spcAft>
                <a:spcPts val="500"/>
              </a:spcAft>
            </a:pPr>
            <a:r>
              <a:rPr sz="4000" b="1">
                <a:solidFill>
                  <a:srgbClr val="C04A12"/>
                </a:solidFill>
                <a:latin typeface="Calibri"/>
              </a:rPr>
              <a:t>0.55</a:t>
            </a:r>
            <a:r>
              <a:rPr sz="1300" b="0">
                <a:solidFill>
                  <a:srgbClr val="3D3C38"/>
                </a:solidFill>
                <a:latin typeface="Calibri"/>
              </a:rPr>
              <a:t>   inter-provider agreement in Energy</a:t>
            </a:r>
          </a:p>
          <a:p>
            <a:pPr algn="l">
              <a:lnSpc>
                <a:spcPct val="112000"/>
              </a:lnSpc>
              <a:spcAft>
                <a:spcPts val="500"/>
              </a:spcAft>
            </a:pPr>
            <a:r>
              <a:rPr sz="1200" b="0">
                <a:solidFill>
                  <a:srgbClr val="3D3C38"/>
                </a:solidFill>
                <a:latin typeface="Calibri"/>
              </a:rPr>
              <a:t>against 0.77 in Technology. The lowest of any sector.</a:t>
            </a:r>
          </a:p>
          <a:p>
            <a:pPr algn="l">
              <a:lnSpc>
                <a:spcPct val="112000"/>
              </a:lnSpc>
              <a:spcAft>
                <a:spcPts val="500"/>
              </a:spcAft>
            </a:pPr>
            <a:r>
              <a:rPr sz="1200" b="0">
                <a:solidFill>
                  <a:srgbClr val="3D3C38"/>
                </a:solidFill>
                <a:latin typeface="Calibri"/>
              </a:rPr>
              <a:t>And the thinnest disclosure: only 3 of 37 environmental fields are reported by all 18 companies. Scope 3 is absent entirely.</a:t>
            </a:r>
          </a:p>
        </p:txBody>
      </p:sp>
      <p:sp>
        <p:nvSpPr>
          <p:cNvPr id="8" name="Rectangle 7"/>
          <p:cNvSpPr/>
          <p:nvPr/>
        </p:nvSpPr>
        <p:spPr>
          <a:xfrm>
            <a:off x="6172200" y="1691640"/>
            <a:ext cx="5212080" cy="2286000"/>
          </a:xfrm>
          <a:prstGeom prst="rect">
            <a:avLst/>
          </a:prstGeom>
          <a:noFill/>
          <a:ln w="2540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874519"/>
            <a:ext cx="4663440" cy="3200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So does the measure behave?</a:t>
            </a:r>
          </a:p>
        </p:txBody>
      </p:sp>
      <p:sp>
        <p:nvSpPr>
          <p:cNvPr id="10" name="TextBox 9"/>
          <p:cNvSpPr txBox="1"/>
          <p:nvPr/>
        </p:nvSpPr>
        <p:spPr>
          <a:xfrm>
            <a:off x="6446520" y="2267712"/>
            <a:ext cx="155448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Financial</a:t>
            </a:r>
          </a:p>
        </p:txBody>
      </p:sp>
      <p:sp>
        <p:nvSpPr>
          <p:cNvPr id="11" name="TextBox 10"/>
          <p:cNvSpPr txBox="1"/>
          <p:nvPr/>
        </p:nvSpPr>
        <p:spPr>
          <a:xfrm>
            <a:off x="8001000" y="2267712"/>
            <a:ext cx="914400" cy="274320"/>
          </a:xfrm>
          <a:prstGeom prst="rect">
            <a:avLst/>
          </a:prstGeom>
          <a:noFill/>
        </p:spPr>
        <p:txBody>
          <a:bodyPr wrap="square" anchor="t" lIns="0" rIns="0" tIns="0" bIns="0">
            <a:spAutoFit/>
          </a:bodyPr>
          <a:lstStyle/>
          <a:p>
            <a:pPr algn="r">
              <a:lnSpc>
                <a:spcPct val="100000"/>
              </a:lnSpc>
              <a:spcAft>
                <a:spcPts val="600"/>
              </a:spcAft>
            </a:pPr>
            <a:r>
              <a:rPr sz="1150" b="0">
                <a:solidFill>
                  <a:srgbClr val="3D3C38"/>
                </a:solidFill>
                <a:latin typeface="Calibri"/>
              </a:rPr>
              <a:t>94%</a:t>
            </a:r>
          </a:p>
        </p:txBody>
      </p:sp>
      <p:sp>
        <p:nvSpPr>
          <p:cNvPr id="12" name="TextBox 11"/>
          <p:cNvSpPr txBox="1"/>
          <p:nvPr/>
        </p:nvSpPr>
        <p:spPr>
          <a:xfrm>
            <a:off x="9144000" y="2267712"/>
            <a:ext cx="1371600" cy="274320"/>
          </a:xfrm>
          <a:prstGeom prst="rect">
            <a:avLst/>
          </a:prstGeom>
          <a:noFill/>
        </p:spPr>
        <p:txBody>
          <a:bodyPr wrap="square" anchor="t" lIns="0" rIns="0" tIns="0" bIns="0">
            <a:spAutoFit/>
          </a:bodyPr>
          <a:lstStyle/>
          <a:p>
            <a:pPr algn="r">
              <a:lnSpc>
                <a:spcPct val="100000"/>
              </a:lnSpc>
              <a:spcAft>
                <a:spcPts val="600"/>
              </a:spcAft>
            </a:pPr>
            <a:r>
              <a:rPr sz="1150" b="1">
                <a:solidFill>
                  <a:srgbClr val="C04A12"/>
                </a:solidFill>
                <a:latin typeface="Calibri"/>
              </a:rPr>
              <a:t>3.0 places</a:t>
            </a:r>
          </a:p>
        </p:txBody>
      </p:sp>
      <p:sp>
        <p:nvSpPr>
          <p:cNvPr id="13" name="TextBox 12"/>
          <p:cNvSpPr txBox="1"/>
          <p:nvPr/>
        </p:nvSpPr>
        <p:spPr>
          <a:xfrm>
            <a:off x="6446520" y="2596896"/>
            <a:ext cx="155448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Governance</a:t>
            </a:r>
          </a:p>
        </p:txBody>
      </p:sp>
      <p:sp>
        <p:nvSpPr>
          <p:cNvPr id="14" name="TextBox 13"/>
          <p:cNvSpPr txBox="1"/>
          <p:nvPr/>
        </p:nvSpPr>
        <p:spPr>
          <a:xfrm>
            <a:off x="8001000" y="2596896"/>
            <a:ext cx="914400" cy="274320"/>
          </a:xfrm>
          <a:prstGeom prst="rect">
            <a:avLst/>
          </a:prstGeom>
          <a:noFill/>
        </p:spPr>
        <p:txBody>
          <a:bodyPr wrap="square" anchor="t" lIns="0" rIns="0" tIns="0" bIns="0">
            <a:spAutoFit/>
          </a:bodyPr>
          <a:lstStyle/>
          <a:p>
            <a:pPr algn="r">
              <a:lnSpc>
                <a:spcPct val="100000"/>
              </a:lnSpc>
              <a:spcAft>
                <a:spcPts val="600"/>
              </a:spcAft>
            </a:pPr>
            <a:r>
              <a:rPr sz="1150" b="0">
                <a:solidFill>
                  <a:srgbClr val="3D3C38"/>
                </a:solidFill>
                <a:latin typeface="Calibri"/>
              </a:rPr>
              <a:t>97%</a:t>
            </a:r>
          </a:p>
        </p:txBody>
      </p:sp>
      <p:sp>
        <p:nvSpPr>
          <p:cNvPr id="15" name="TextBox 14"/>
          <p:cNvSpPr txBox="1"/>
          <p:nvPr/>
        </p:nvSpPr>
        <p:spPr>
          <a:xfrm>
            <a:off x="9144000" y="2596896"/>
            <a:ext cx="1371600" cy="274320"/>
          </a:xfrm>
          <a:prstGeom prst="rect">
            <a:avLst/>
          </a:prstGeom>
          <a:noFill/>
        </p:spPr>
        <p:txBody>
          <a:bodyPr wrap="square" anchor="t" lIns="0" rIns="0" tIns="0" bIns="0">
            <a:spAutoFit/>
          </a:bodyPr>
          <a:lstStyle/>
          <a:p>
            <a:pPr algn="r">
              <a:lnSpc>
                <a:spcPct val="100000"/>
              </a:lnSpc>
              <a:spcAft>
                <a:spcPts val="600"/>
              </a:spcAft>
            </a:pPr>
            <a:r>
              <a:rPr sz="1150" b="1">
                <a:solidFill>
                  <a:srgbClr val="C04A12"/>
                </a:solidFill>
                <a:latin typeface="Calibri"/>
              </a:rPr>
              <a:t>4.0 places</a:t>
            </a:r>
          </a:p>
        </p:txBody>
      </p:sp>
      <p:sp>
        <p:nvSpPr>
          <p:cNvPr id="16" name="TextBox 15"/>
          <p:cNvSpPr txBox="1"/>
          <p:nvPr/>
        </p:nvSpPr>
        <p:spPr>
          <a:xfrm>
            <a:off x="6446520" y="2926080"/>
            <a:ext cx="155448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Environment</a:t>
            </a:r>
          </a:p>
        </p:txBody>
      </p:sp>
      <p:sp>
        <p:nvSpPr>
          <p:cNvPr id="17" name="TextBox 16"/>
          <p:cNvSpPr txBox="1"/>
          <p:nvPr/>
        </p:nvSpPr>
        <p:spPr>
          <a:xfrm>
            <a:off x="8001000" y="2926080"/>
            <a:ext cx="914400" cy="274320"/>
          </a:xfrm>
          <a:prstGeom prst="rect">
            <a:avLst/>
          </a:prstGeom>
          <a:noFill/>
        </p:spPr>
        <p:txBody>
          <a:bodyPr wrap="square" anchor="t" lIns="0" rIns="0" tIns="0" bIns="0">
            <a:spAutoFit/>
          </a:bodyPr>
          <a:lstStyle/>
          <a:p>
            <a:pPr algn="r">
              <a:lnSpc>
                <a:spcPct val="100000"/>
              </a:lnSpc>
              <a:spcAft>
                <a:spcPts val="600"/>
              </a:spcAft>
            </a:pPr>
            <a:r>
              <a:rPr sz="1150" b="0">
                <a:solidFill>
                  <a:srgbClr val="3D3C38"/>
                </a:solidFill>
                <a:latin typeface="Calibri"/>
              </a:rPr>
              <a:t>61%</a:t>
            </a:r>
          </a:p>
        </p:txBody>
      </p:sp>
      <p:sp>
        <p:nvSpPr>
          <p:cNvPr id="18" name="TextBox 17"/>
          <p:cNvSpPr txBox="1"/>
          <p:nvPr/>
        </p:nvSpPr>
        <p:spPr>
          <a:xfrm>
            <a:off x="9144000" y="2926080"/>
            <a:ext cx="1371600" cy="274320"/>
          </a:xfrm>
          <a:prstGeom prst="rect">
            <a:avLst/>
          </a:prstGeom>
          <a:noFill/>
        </p:spPr>
        <p:txBody>
          <a:bodyPr wrap="square" anchor="t" lIns="0" rIns="0" tIns="0" bIns="0">
            <a:spAutoFit/>
          </a:bodyPr>
          <a:lstStyle/>
          <a:p>
            <a:pPr algn="r">
              <a:lnSpc>
                <a:spcPct val="100000"/>
              </a:lnSpc>
              <a:spcAft>
                <a:spcPts val="600"/>
              </a:spcAft>
            </a:pPr>
            <a:r>
              <a:rPr sz="1150" b="1">
                <a:solidFill>
                  <a:srgbClr val="C04A12"/>
                </a:solidFill>
                <a:latin typeface="Calibri"/>
              </a:rPr>
              <a:t>5.0 places</a:t>
            </a:r>
          </a:p>
        </p:txBody>
      </p:sp>
      <p:sp>
        <p:nvSpPr>
          <p:cNvPr id="19" name="TextBox 18"/>
          <p:cNvSpPr txBox="1"/>
          <p:nvPr/>
        </p:nvSpPr>
        <p:spPr>
          <a:xfrm>
            <a:off x="6446520" y="3255264"/>
            <a:ext cx="155448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Social</a:t>
            </a:r>
          </a:p>
        </p:txBody>
      </p:sp>
      <p:sp>
        <p:nvSpPr>
          <p:cNvPr id="20" name="TextBox 19"/>
          <p:cNvSpPr txBox="1"/>
          <p:nvPr/>
        </p:nvSpPr>
        <p:spPr>
          <a:xfrm>
            <a:off x="8001000" y="3255264"/>
            <a:ext cx="914400" cy="274320"/>
          </a:xfrm>
          <a:prstGeom prst="rect">
            <a:avLst/>
          </a:prstGeom>
          <a:noFill/>
        </p:spPr>
        <p:txBody>
          <a:bodyPr wrap="square" anchor="t" lIns="0" rIns="0" tIns="0" bIns="0">
            <a:spAutoFit/>
          </a:bodyPr>
          <a:lstStyle/>
          <a:p>
            <a:pPr algn="r">
              <a:lnSpc>
                <a:spcPct val="100000"/>
              </a:lnSpc>
              <a:spcAft>
                <a:spcPts val="600"/>
              </a:spcAft>
            </a:pPr>
            <a:r>
              <a:rPr sz="1150" b="0">
                <a:solidFill>
                  <a:srgbClr val="3D3C38"/>
                </a:solidFill>
                <a:latin typeface="Calibri"/>
              </a:rPr>
              <a:t>66%</a:t>
            </a:r>
          </a:p>
        </p:txBody>
      </p:sp>
      <p:sp>
        <p:nvSpPr>
          <p:cNvPr id="21" name="TextBox 20"/>
          <p:cNvSpPr txBox="1"/>
          <p:nvPr/>
        </p:nvSpPr>
        <p:spPr>
          <a:xfrm>
            <a:off x="9144000" y="3255264"/>
            <a:ext cx="1371600" cy="274320"/>
          </a:xfrm>
          <a:prstGeom prst="rect">
            <a:avLst/>
          </a:prstGeom>
          <a:noFill/>
        </p:spPr>
        <p:txBody>
          <a:bodyPr wrap="square" anchor="t" lIns="0" rIns="0" tIns="0" bIns="0">
            <a:spAutoFit/>
          </a:bodyPr>
          <a:lstStyle/>
          <a:p>
            <a:pPr algn="r">
              <a:lnSpc>
                <a:spcPct val="100000"/>
              </a:lnSpc>
              <a:spcAft>
                <a:spcPts val="600"/>
              </a:spcAft>
            </a:pPr>
            <a:r>
              <a:rPr sz="1150" b="1">
                <a:solidFill>
                  <a:srgbClr val="C04A12"/>
                </a:solidFill>
                <a:latin typeface="Calibri"/>
              </a:rPr>
              <a:t>6.0 places</a:t>
            </a:r>
          </a:p>
        </p:txBody>
      </p:sp>
      <p:sp>
        <p:nvSpPr>
          <p:cNvPr id="22" name="TextBox 21"/>
          <p:cNvSpPr txBox="1"/>
          <p:nvPr/>
        </p:nvSpPr>
        <p:spPr>
          <a:xfrm>
            <a:off x="6446520" y="3611880"/>
            <a:ext cx="4663440" cy="320040"/>
          </a:xfrm>
          <a:prstGeom prst="rect">
            <a:avLst/>
          </a:prstGeom>
          <a:noFill/>
        </p:spPr>
        <p:txBody>
          <a:bodyPr wrap="square" anchor="t" lIns="0" rIns="0" tIns="0" bIns="0">
            <a:spAutoFit/>
          </a:bodyPr>
          <a:lstStyle/>
          <a:p>
            <a:pPr algn="l">
              <a:lnSpc>
                <a:spcPct val="100000"/>
              </a:lnSpc>
              <a:spcAft>
                <a:spcPts val="600"/>
              </a:spcAft>
            </a:pPr>
            <a:r>
              <a:rPr sz="1200" b="0">
                <a:solidFill>
                  <a:srgbClr val="3D3C38"/>
                </a:solidFill>
                <a:latin typeface="Calibri"/>
              </a:rPr>
              <a:t>Contestation tracks coverage: </a:t>
            </a:r>
            <a:r>
              <a:rPr sz="1200" b="1">
                <a:solidFill>
                  <a:srgbClr val="101010"/>
                </a:solidFill>
                <a:latin typeface="Calibri"/>
              </a:rPr>
              <a:t>correlation −0.83.</a:t>
            </a:r>
          </a:p>
        </p:txBody>
      </p:sp>
      <p:sp>
        <p:nvSpPr>
          <p:cNvPr id="23" name="Rectangle 22"/>
          <p:cNvSpPr/>
          <p:nvPr/>
        </p:nvSpPr>
        <p:spPr>
          <a:xfrm>
            <a:off x="777240" y="4206240"/>
            <a:ext cx="10607040" cy="17373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434840"/>
            <a:ext cx="10058400" cy="1371600"/>
          </a:xfrm>
          <a:prstGeom prst="rect">
            <a:avLst/>
          </a:prstGeom>
          <a:noFill/>
        </p:spPr>
        <p:txBody>
          <a:bodyPr wrap="square" anchor="t" lIns="0" rIns="0" tIns="0" bIns="0">
            <a:spAutoFit/>
          </a:bodyPr>
          <a:lstStyle/>
          <a:p>
            <a:pPr algn="l">
              <a:lnSpc>
                <a:spcPct val="115000"/>
              </a:lnSpc>
              <a:spcAft>
                <a:spcPts val="500"/>
              </a:spcAft>
            </a:pPr>
            <a:r>
              <a:rPr sz="1500" b="1">
                <a:solidFill>
                  <a:srgbClr val="101010"/>
                </a:solidFill>
                <a:latin typeface="Calibri"/>
              </a:rPr>
              <a:t>What we can claim, and what we cannot.</a:t>
            </a:r>
          </a:p>
          <a:p>
            <a:pPr algn="l">
              <a:lnSpc>
                <a:spcPct val="115000"/>
              </a:lnSpc>
              <a:spcAft>
                <a:spcPts val="500"/>
              </a:spcAft>
            </a:pPr>
            <a:r>
              <a:rPr sz="1400" b="0">
                <a:solidFill>
                  <a:srgbClr val="3D3C38"/>
                </a:solidFill>
                <a:latin typeface="Calibri"/>
              </a:rPr>
              <a:t>We do </a:t>
            </a:r>
            <a:r>
              <a:rPr sz="1400" b="1">
                <a:solidFill>
                  <a:srgbClr val="101010"/>
                </a:solidFill>
                <a:latin typeface="Calibri"/>
              </a:rPr>
              <a:t>not</a:t>
            </a:r>
            <a:r>
              <a:rPr sz="1400" b="0">
                <a:solidFill>
                  <a:srgbClr val="3D3C38"/>
                </a:solidFill>
                <a:latin typeface="Calibri"/>
              </a:rPr>
              <a:t> claim this generalises to other sectors. Our indicators are sector-specific by construction, which is why the providers build a materiality map per industry.</a:t>
            </a:r>
          </a:p>
          <a:p>
            <a:pPr algn="l">
              <a:lnSpc>
                <a:spcPct val="115000"/>
              </a:lnSpc>
              <a:spcAft>
                <a:spcPts val="500"/>
              </a:spcAft>
            </a:pPr>
            <a:r>
              <a:rPr sz="1400" b="0">
                <a:solidFill>
                  <a:srgbClr val="3D3C38"/>
                </a:solidFill>
                <a:latin typeface="Calibri"/>
              </a:rPr>
              <a:t>We claim the uncertainty we report </a:t>
            </a:r>
            <a:r>
              <a:rPr sz="1400" b="1">
                <a:solidFill>
                  <a:srgbClr val="101010"/>
                </a:solidFill>
                <a:latin typeface="Calibri"/>
              </a:rPr>
              <a:t>tracks the evidence underneath it</a:t>
            </a:r>
            <a:r>
              <a:rPr sz="1400" b="0">
                <a:solidFill>
                  <a:srgbClr val="3D3C38"/>
                </a:solidFill>
                <a:latin typeface="Calibri"/>
              </a:rPr>
              <a:t>, and sits far inside a random-rank control of 8.5 to 9.0 places. It separates what the data supports from what it does not.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011680"/>
            <a:ext cx="10607040" cy="640080"/>
          </a:xfrm>
          <a:prstGeom prst="rect">
            <a:avLst/>
          </a:prstGeom>
          <a:noFill/>
        </p:spPr>
        <p:txBody>
          <a:bodyPr wrap="square" anchor="t" lIns="0" rIns="0" tIns="0" bIns="0">
            <a:spAutoFit/>
          </a:bodyPr>
          <a:lstStyle/>
          <a:p>
            <a:pPr algn="l">
              <a:lnSpc>
                <a:spcPct val="100000"/>
              </a:lnSpc>
              <a:spcAft>
                <a:spcPts val="600"/>
              </a:spcAft>
            </a:pPr>
            <a:r>
              <a:rPr sz="2000" b="1">
                <a:solidFill>
                  <a:srgbClr val="C04A12"/>
                </a:solidFill>
                <a:latin typeface="Calibri"/>
              </a:rPr>
              <a:t>LIVE</a:t>
            </a:r>
          </a:p>
        </p:txBody>
      </p:sp>
      <p:sp>
        <p:nvSpPr>
          <p:cNvPr id="4" name="TextBox 3"/>
          <p:cNvSpPr txBox="1"/>
          <p:nvPr/>
        </p:nvSpPr>
        <p:spPr>
          <a:xfrm>
            <a:off x="777240" y="2514600"/>
            <a:ext cx="10607040" cy="1645920"/>
          </a:xfrm>
          <a:prstGeom prst="rect">
            <a:avLst/>
          </a:prstGeom>
          <a:noFill/>
        </p:spPr>
        <p:txBody>
          <a:bodyPr wrap="square" anchor="t" lIns="0" rIns="0" tIns="0" bIns="0">
            <a:spAutoFit/>
          </a:bodyPr>
          <a:lstStyle/>
          <a:p>
            <a:pPr algn="l">
              <a:lnSpc>
                <a:spcPct val="100000"/>
              </a:lnSpc>
              <a:spcAft>
                <a:spcPts val="200"/>
              </a:spcAft>
            </a:pPr>
            <a:r>
              <a:rPr sz="5600" b="1">
                <a:solidFill>
                  <a:srgbClr val="FFFFFF"/>
                </a:solidFill>
                <a:latin typeface="Calibri"/>
              </a:rPr>
              <a:t>Move one switch.</a:t>
            </a:r>
          </a:p>
          <a:p>
            <a:pPr algn="l">
              <a:lnSpc>
                <a:spcPct val="100000"/>
              </a:lnSpc>
              <a:spcAft>
                <a:spcPts val="200"/>
              </a:spcAft>
            </a:pPr>
            <a:r>
              <a:rPr sz="5600" b="1">
                <a:solidFill>
                  <a:srgbClr val="FFFFFF"/>
                </a:solidFill>
                <a:latin typeface="Calibri"/>
              </a:rPr>
              <a:t>Watch the ranking change.</a:t>
            </a:r>
          </a:p>
        </p:txBody>
      </p:sp>
      <p:sp>
        <p:nvSpPr>
          <p:cNvPr id="5" name="TextBox 4"/>
          <p:cNvSpPr txBox="1"/>
          <p:nvPr/>
        </p:nvSpPr>
        <p:spPr>
          <a:xfrm>
            <a:off x="777240" y="4572000"/>
            <a:ext cx="10607040" cy="731520"/>
          </a:xfrm>
          <a:prstGeom prst="rect">
            <a:avLst/>
          </a:prstGeom>
          <a:noFill/>
        </p:spPr>
        <p:txBody>
          <a:bodyPr wrap="square" anchor="t" lIns="0" rIns="0" tIns="0" bIns="0">
            <a:spAutoFit/>
          </a:bodyPr>
          <a:lstStyle/>
          <a:p>
            <a:pPr algn="l">
              <a:lnSpc>
                <a:spcPct val="100000"/>
              </a:lnSpc>
              <a:spcAft>
                <a:spcPts val="600"/>
              </a:spcAft>
            </a:pPr>
            <a:r>
              <a:rPr sz="2200" b="0">
                <a:solidFill>
                  <a:srgbClr val="B8B7B1"/>
                </a:solidFill>
                <a:latin typeface="Calibri"/>
              </a:rPr>
              <a:t>17,496 specifications, recomputed in the browser, in real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BONUS  ·  ONE BILLION DOLLARS UNDER A NET-ZERO COMMITMENT</a:t>
            </a:r>
          </a:p>
        </p:txBody>
      </p:sp>
      <p:sp>
        <p:nvSpPr>
          <p:cNvPr id="4" name="TextBox 3"/>
          <p:cNvSpPr txBox="1"/>
          <p:nvPr/>
        </p:nvSpPr>
        <p:spPr>
          <a:xfrm>
            <a:off x="777240" y="868680"/>
            <a:ext cx="10607040" cy="685800"/>
          </a:xfrm>
          <a:prstGeom prst="rect">
            <a:avLst/>
          </a:prstGeom>
          <a:noFill/>
        </p:spPr>
        <p:txBody>
          <a:bodyPr wrap="square" anchor="t" lIns="0" rIns="0" tIns="0" bIns="0">
            <a:spAutoFit/>
          </a:bodyPr>
          <a:lstStyle/>
          <a:p>
            <a:pPr algn="l">
              <a:lnSpc>
                <a:spcPct val="100000"/>
              </a:lnSpc>
              <a:spcAft>
                <a:spcPts val="600"/>
              </a:spcAft>
            </a:pPr>
            <a:r>
              <a:rPr sz="3200" b="0">
                <a:solidFill>
                  <a:srgbClr val="101010"/>
                </a:solidFill>
                <a:latin typeface="Calibri"/>
              </a:rPr>
              <a:t>Buy the companies the market </a:t>
            </a:r>
            <a:r>
              <a:rPr sz="3200" b="1">
                <a:solidFill>
                  <a:srgbClr val="C04A12"/>
                </a:solidFill>
                <a:latin typeface="Calibri"/>
              </a:rPr>
              <a:t>cannot yet classify.</a:t>
            </a:r>
          </a:p>
        </p:txBody>
      </p:sp>
      <p:pic>
        <p:nvPicPr>
          <p:cNvPr id="5" name="Picture 4" descr="f4_eligibility.png"/>
          <p:cNvPicPr>
            <a:picLocks noChangeAspect="1"/>
          </p:cNvPicPr>
          <p:nvPr/>
        </p:nvPicPr>
        <p:blipFill>
          <a:blip r:embed="rId2"/>
          <a:stretch>
            <a:fillRect/>
          </a:stretch>
        </p:blipFill>
        <p:spPr>
          <a:xfrm>
            <a:off x="777240" y="1691640"/>
            <a:ext cx="5349240" cy="2377440"/>
          </a:xfrm>
          <a:prstGeom prst="rect">
            <a:avLst/>
          </a:prstGeom>
        </p:spPr>
      </p:pic>
      <p:sp>
        <p:nvSpPr>
          <p:cNvPr id="6" name="Rectangle 5"/>
          <p:cNvSpPr/>
          <p:nvPr/>
        </p:nvSpPr>
        <p:spPr>
          <a:xfrm>
            <a:off x="6537960" y="1691640"/>
            <a:ext cx="4846320" cy="34290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0" y="1920240"/>
            <a:ext cx="4297680" cy="3017520"/>
          </a:xfrm>
          <a:prstGeom prst="rect">
            <a:avLst/>
          </a:prstGeom>
          <a:noFill/>
        </p:spPr>
        <p:txBody>
          <a:bodyPr wrap="square" anchor="t" lIns="0" rIns="0" tIns="0" bIns="0">
            <a:spAutoFit/>
          </a:bodyPr>
          <a:lstStyle/>
          <a:p>
            <a:pPr algn="l">
              <a:lnSpc>
                <a:spcPct val="112000"/>
              </a:lnSpc>
              <a:spcAft>
                <a:spcPts val="1000"/>
              </a:spcAft>
            </a:pPr>
            <a:r>
              <a:rPr sz="4000" b="1">
                <a:solidFill>
                  <a:srgbClr val="C04A12"/>
                </a:solidFill>
                <a:latin typeface="Calibri"/>
              </a:rPr>
              <a:t>15 of 18</a:t>
            </a:r>
          </a:p>
          <a:p>
            <a:pPr algn="l">
              <a:lnSpc>
                <a:spcPct val="112000"/>
              </a:lnSpc>
              <a:spcAft>
                <a:spcPts val="1000"/>
              </a:spcAft>
            </a:pPr>
            <a:r>
              <a:rPr sz="1500" b="0">
                <a:solidFill>
                  <a:srgbClr val="3D3C38"/>
                </a:solidFill>
                <a:latin typeface="Calibri"/>
              </a:rPr>
              <a:t>companies are between 20% and 80% likely to pass a sustainable-fund screen.</a:t>
            </a:r>
          </a:p>
          <a:p>
            <a:pPr algn="l">
              <a:lnSpc>
                <a:spcPct val="112000"/>
              </a:lnSpc>
              <a:spcAft>
                <a:spcPts val="1000"/>
              </a:spcAft>
            </a:pPr>
            <a:r>
              <a:rPr sz="1500" b="0">
                <a:solidFill>
                  <a:srgbClr val="3D3C38"/>
                </a:solidFill>
                <a:latin typeface="Calibri"/>
              </a:rPr>
              <a:t>There is no threshold to cross. So the trade is not crossing a line, it is the gap between where a company </a:t>
            </a:r>
            <a:r>
              <a:rPr sz="1500" b="1">
                <a:solidFill>
                  <a:srgbClr val="101010"/>
                </a:solidFill>
                <a:latin typeface="Calibri"/>
              </a:rPr>
              <a:t>stands</a:t>
            </a:r>
            <a:r>
              <a:rPr sz="1500" b="0">
                <a:solidFill>
                  <a:srgbClr val="3D3C38"/>
                </a:solidFill>
                <a:latin typeface="Calibri"/>
              </a:rPr>
              <a:t> and where it is </a:t>
            </a:r>
            <a:r>
              <a:rPr sz="1500" b="1">
                <a:solidFill>
                  <a:srgbClr val="101010"/>
                </a:solidFill>
                <a:latin typeface="Calibri"/>
              </a:rPr>
              <a:t>heading</a:t>
            </a:r>
            <a:r>
              <a:rPr sz="1500" b="0">
                <a:solidFill>
                  <a:srgbClr val="3D3C38"/>
                </a:solidFill>
                <a:latin typeface="Calibri"/>
              </a:rPr>
              <a:t>.</a:t>
            </a:r>
          </a:p>
          <a:p>
            <a:pPr algn="l">
              <a:lnSpc>
                <a:spcPct val="112000"/>
              </a:lnSpc>
              <a:spcAft>
                <a:spcPts val="1000"/>
              </a:spcAft>
            </a:pPr>
            <a:r>
              <a:rPr sz="1600" b="1">
                <a:solidFill>
                  <a:srgbClr val="C04A12"/>
                </a:solidFill>
                <a:latin typeface="Calibri"/>
              </a:rPr>
              <a:t>MPC +0.61    OXY +0.41    PSX +0.28</a:t>
            </a:r>
          </a:p>
        </p:txBody>
      </p:sp>
      <p:sp>
        <p:nvSpPr>
          <p:cNvPr id="8" name="Rectangle 7"/>
          <p:cNvSpPr/>
          <p:nvPr/>
        </p:nvSpPr>
        <p:spPr>
          <a:xfrm>
            <a:off x="777240" y="5440680"/>
            <a:ext cx="10607040" cy="381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07040" cy="731520"/>
          </a:xfrm>
          <a:prstGeom prst="rect">
            <a:avLst/>
          </a:prstGeom>
          <a:noFill/>
        </p:spPr>
        <p:txBody>
          <a:bodyPr wrap="square" anchor="t" lIns="0" rIns="0" tIns="0" bIns="0">
            <a:spAutoFit/>
          </a:bodyPr>
          <a:lstStyle/>
          <a:p>
            <a:pPr algn="l">
              <a:lnSpc>
                <a:spcPct val="100000"/>
              </a:lnSpc>
              <a:spcAft>
                <a:spcPts val="600"/>
              </a:spcAft>
            </a:pPr>
            <a:r>
              <a:rPr sz="2200" b="0">
                <a:solidFill>
                  <a:srgbClr val="101010"/>
                </a:solidFill>
                <a:latin typeface="Calibri"/>
              </a:rPr>
              <a:t>We give you the ranking the brief asked for, </a:t>
            </a:r>
            <a:r>
              <a:rPr sz="2200" b="1">
                <a:solidFill>
                  <a:srgbClr val="C04A12"/>
                </a:solidFill>
                <a:latin typeface="Calibri"/>
              </a:rPr>
              <a:t>and the honest error bar around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43200"/>
            <a:ext cx="10607040" cy="640080"/>
          </a:xfrm>
          <a:prstGeom prst="rect">
            <a:avLst/>
          </a:prstGeom>
          <a:noFill/>
        </p:spPr>
        <p:txBody>
          <a:bodyPr wrap="square" anchor="t" lIns="0" rIns="0" tIns="0" bIns="0">
            <a:spAutoFit/>
          </a:bodyPr>
          <a:lstStyle/>
          <a:p>
            <a:pPr algn="l">
              <a:lnSpc>
                <a:spcPct val="100000"/>
              </a:lnSpc>
              <a:spcAft>
                <a:spcPts val="600"/>
              </a:spcAft>
            </a:pPr>
            <a:r>
              <a:rPr sz="1800" b="1">
                <a:solidFill>
                  <a:srgbClr val="C04A12"/>
                </a:solidFill>
                <a:latin typeface="Calibri"/>
              </a:rPr>
              <a:t>APPENDIX</a:t>
            </a:r>
          </a:p>
        </p:txBody>
      </p:sp>
      <p:sp>
        <p:nvSpPr>
          <p:cNvPr id="4" name="TextBox 3"/>
          <p:cNvSpPr txBox="1"/>
          <p:nvPr/>
        </p:nvSpPr>
        <p:spPr>
          <a:xfrm>
            <a:off x="777240" y="3200400"/>
            <a:ext cx="10607040" cy="1097280"/>
          </a:xfrm>
          <a:prstGeom prst="rect">
            <a:avLst/>
          </a:prstGeom>
          <a:noFill/>
        </p:spPr>
        <p:txBody>
          <a:bodyPr wrap="square" anchor="t" lIns="0" rIns="0" tIns="0" bIns="0">
            <a:spAutoFit/>
          </a:bodyPr>
          <a:lstStyle/>
          <a:p>
            <a:pPr algn="l">
              <a:lnSpc>
                <a:spcPct val="100000"/>
              </a:lnSpc>
              <a:spcAft>
                <a:spcPts val="600"/>
              </a:spcAft>
            </a:pPr>
            <a:r>
              <a:rPr sz="4400" b="1">
                <a:solidFill>
                  <a:srgbClr val="FFFFFF"/>
                </a:solidFill>
                <a:latin typeface="Calibri"/>
              </a:rPr>
              <a:t>Backup. Not presented.</a:t>
            </a:r>
          </a:p>
        </p:txBody>
      </p:sp>
      <p:sp>
        <p:nvSpPr>
          <p:cNvPr id="5" name="TextBox 4"/>
          <p:cNvSpPr txBox="1"/>
          <p:nvPr/>
        </p:nvSpPr>
        <p:spPr>
          <a:xfrm>
            <a:off x="777240" y="4480560"/>
            <a:ext cx="10607040" cy="548640"/>
          </a:xfrm>
          <a:prstGeom prst="rect">
            <a:avLst/>
          </a:prstGeom>
          <a:noFill/>
        </p:spPr>
        <p:txBody>
          <a:bodyPr wrap="square" anchor="t" lIns="0" rIns="0" tIns="0" bIns="0">
            <a:spAutoFit/>
          </a:bodyPr>
          <a:lstStyle/>
          <a:p>
            <a:pPr algn="l">
              <a:lnSpc>
                <a:spcPct val="130000"/>
              </a:lnSpc>
              <a:spcAft>
                <a:spcPts val="600"/>
              </a:spcAft>
            </a:pPr>
            <a:r>
              <a:rPr sz="1400" b="0">
                <a:solidFill>
                  <a:srgbClr val="B8B7B1"/>
                </a:solidFill>
                <a:latin typeface="Calibri"/>
              </a:rPr>
              <a:t>A1 value proposition · A2 the nine specifications · A3 data · A4 indicators · A5 results · A6 variance · A7 deflation · A8 settled pairs · A9 risks · A10 formula · A11 bonus · A12 reproducibility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A1</a:t>
            </a:r>
            <a:r>
              <a:rPr sz="1900" b="1">
                <a:solidFill>
                  <a:srgbClr val="101010"/>
                </a:solidFill>
                <a:latin typeface="Calibri"/>
              </a:rPr>
              <a:t>     Value proposition: who benefits, and what they do differently</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051560"/>
            <a:ext cx="10607040" cy="457200"/>
          </a:xfrm>
          <a:prstGeom prst="rect">
            <a:avLst/>
          </a:prstGeom>
          <a:noFill/>
        </p:spPr>
        <p:txBody>
          <a:bodyPr wrap="square" anchor="t" lIns="0" rIns="0" tIns="0" bIns="0">
            <a:spAutoFit/>
          </a:bodyPr>
          <a:lstStyle/>
          <a:p>
            <a:pPr algn="l">
              <a:lnSpc>
                <a:spcPct val="100000"/>
              </a:lnSpc>
              <a:spcAft>
                <a:spcPts val="600"/>
              </a:spcAft>
            </a:pPr>
            <a:r>
              <a:rPr sz="2000" b="0">
                <a:solidFill>
                  <a:srgbClr val="3D3C38"/>
                </a:solidFill>
                <a:latin typeface="Calibri"/>
              </a:rPr>
              <a:t>We do not replace a rating. We tell you which parts of it you can act on.</a:t>
            </a:r>
          </a:p>
        </p:txBody>
      </p:sp>
      <p:sp>
        <p:nvSpPr>
          <p:cNvPr id="6" name="Rectangle 5"/>
          <p:cNvSpPr/>
          <p:nvPr/>
        </p:nvSpPr>
        <p:spPr>
          <a:xfrm>
            <a:off x="777240" y="1691640"/>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10512"/>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Asset allocator</a:t>
            </a:r>
          </a:p>
        </p:txBody>
      </p:sp>
      <p:sp>
        <p:nvSpPr>
          <p:cNvPr id="8" name="TextBox 7"/>
          <p:cNvSpPr txBox="1"/>
          <p:nvPr/>
        </p:nvSpPr>
        <p:spPr>
          <a:xfrm>
            <a:off x="3429000" y="1783080"/>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Gets the consensus rank, the number a provider already sells, plus the 33 of 153 comparisons that hold under every specification.</a:t>
            </a:r>
          </a:p>
        </p:txBody>
      </p:sp>
      <p:sp>
        <p:nvSpPr>
          <p:cNvPr id="9" name="TextBox 8"/>
          <p:cNvSpPr txBox="1"/>
          <p:nvPr/>
        </p:nvSpPr>
        <p:spPr>
          <a:xfrm>
            <a:off x="7818120" y="1783080"/>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Stops making 120 relative calls the evidence cannot support.</a:t>
            </a:r>
          </a:p>
        </p:txBody>
      </p:sp>
      <p:sp>
        <p:nvSpPr>
          <p:cNvPr id="10" name="Rectangle 9"/>
          <p:cNvSpPr/>
          <p:nvPr/>
        </p:nvSpPr>
        <p:spPr>
          <a:xfrm>
            <a:off x="777240" y="2633472"/>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752344"/>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Engagement team</a:t>
            </a:r>
          </a:p>
        </p:txBody>
      </p:sp>
      <p:sp>
        <p:nvSpPr>
          <p:cNvPr id="12" name="TextBox 11"/>
          <p:cNvSpPr txBox="1"/>
          <p:nvPr/>
        </p:nvSpPr>
        <p:spPr>
          <a:xfrm>
            <a:off x="3429000" y="2724912"/>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The remedy column names the single missing disclosure that would most reduce a company's contestation.</a:t>
            </a:r>
          </a:p>
        </p:txBody>
      </p:sp>
      <p:sp>
        <p:nvSpPr>
          <p:cNvPr id="13" name="TextBox 12"/>
          <p:cNvSpPr txBox="1"/>
          <p:nvPr/>
        </p:nvSpPr>
        <p:spPr>
          <a:xfrm>
            <a:off x="7818120" y="2724912"/>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Walks into a meeting with one specific ask instead of a generic score complaint.</a:t>
            </a:r>
          </a:p>
        </p:txBody>
      </p:sp>
      <p:sp>
        <p:nvSpPr>
          <p:cNvPr id="14" name="Rectangle 13"/>
          <p:cNvSpPr/>
          <p:nvPr/>
        </p:nvSpPr>
        <p:spPr>
          <a:xfrm>
            <a:off x="777240" y="3575304"/>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694176"/>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Regulator or standard setter</a:t>
            </a:r>
          </a:p>
        </p:txBody>
      </p:sp>
      <p:sp>
        <p:nvSpPr>
          <p:cNvPr id="16" name="TextBox 15"/>
          <p:cNvSpPr txBox="1"/>
          <p:nvPr/>
        </p:nvSpPr>
        <p:spPr>
          <a:xfrm>
            <a:off x="3429000" y="3666744"/>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Quantifies how much of a rating is convention rather than performance, per axis.</a:t>
            </a:r>
          </a:p>
        </p:txBody>
      </p:sp>
      <p:sp>
        <p:nvSpPr>
          <p:cNvPr id="17" name="TextBox 16"/>
          <p:cNvSpPr txBox="1"/>
          <p:nvPr/>
        </p:nvSpPr>
        <p:spPr>
          <a:xfrm>
            <a:off x="7818120" y="3666744"/>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Targets the disclosure rule at the convention that actually moves rankings.</a:t>
            </a:r>
          </a:p>
        </p:txBody>
      </p:sp>
      <p:sp>
        <p:nvSpPr>
          <p:cNvPr id="18" name="Rectangle 17"/>
          <p:cNvSpPr/>
          <p:nvPr/>
        </p:nvSpPr>
        <p:spPr>
          <a:xfrm>
            <a:off x="777240" y="4517136"/>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636008"/>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Rating provider</a:t>
            </a:r>
          </a:p>
        </p:txBody>
      </p:sp>
      <p:sp>
        <p:nvSpPr>
          <p:cNvPr id="20" name="TextBox 19"/>
          <p:cNvSpPr txBox="1"/>
          <p:nvPr/>
        </p:nvSpPr>
        <p:spPr>
          <a:xfrm>
            <a:off x="3429000" y="4608576"/>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A quality-assurance lens on their own product: where is our published score fragile?</a:t>
            </a:r>
          </a:p>
        </p:txBody>
      </p:sp>
      <p:sp>
        <p:nvSpPr>
          <p:cNvPr id="21" name="TextBox 20"/>
          <p:cNvSpPr txBox="1"/>
          <p:nvPr/>
        </p:nvSpPr>
        <p:spPr>
          <a:xfrm>
            <a:off x="7818120" y="4608576"/>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Knows which issuers to re-review before publication.</a:t>
            </a:r>
          </a:p>
        </p:txBody>
      </p:sp>
      <p:sp>
        <p:nvSpPr>
          <p:cNvPr id="22" name="Rectangle 21"/>
          <p:cNvSpPr/>
          <p:nvPr/>
        </p:nvSpPr>
        <p:spPr>
          <a:xfrm>
            <a:off x="777240" y="5458968"/>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577840"/>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The company being rated</a:t>
            </a:r>
          </a:p>
        </p:txBody>
      </p:sp>
      <p:sp>
        <p:nvSpPr>
          <p:cNvPr id="24" name="TextBox 23"/>
          <p:cNvSpPr txBox="1"/>
          <p:nvPr/>
        </p:nvSpPr>
        <p:spPr>
          <a:xfrm>
            <a:off x="3429000" y="5550408"/>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Sees which of its own silences costs it the most rank.</a:t>
            </a:r>
          </a:p>
        </p:txBody>
      </p:sp>
      <p:sp>
        <p:nvSpPr>
          <p:cNvPr id="25" name="TextBox 24"/>
          <p:cNvSpPr txBox="1"/>
          <p:nvPr/>
        </p:nvSpPr>
        <p:spPr>
          <a:xfrm>
            <a:off x="7818120" y="5550408"/>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Discloses the field that changes its classification, not the cheapest one.</a:t>
            </a:r>
          </a:p>
        </p:txBody>
      </p:sp>
      <p:sp>
        <p:nvSpPr>
          <p:cNvPr id="26" name="TextBox 25"/>
          <p:cNvSpPr txBox="1"/>
          <p:nvPr/>
        </p:nvSpPr>
        <p:spPr>
          <a:xfrm>
            <a:off x="777240" y="6400800"/>
            <a:ext cx="10607040" cy="365760"/>
          </a:xfrm>
          <a:prstGeom prst="rect">
            <a:avLst/>
          </a:prstGeom>
          <a:noFill/>
        </p:spPr>
        <p:txBody>
          <a:bodyPr wrap="square" anchor="t" lIns="0" rIns="0" tIns="0" bIns="0">
            <a:spAutoFit/>
          </a:bodyPr>
          <a:lstStyle/>
          <a:p>
            <a:pPr algn="l">
              <a:lnSpc>
                <a:spcPct val="100000"/>
              </a:lnSpc>
              <a:spcAft>
                <a:spcPts val="600"/>
              </a:spcAft>
            </a:pPr>
            <a:r>
              <a:rPr sz="1200" b="0">
                <a:solidFill>
                  <a:srgbClr val="6B6A63"/>
                </a:solidFill>
                <a:latin typeface="Calibri"/>
              </a:rPr>
              <a:t>Anyone who wants one number takes the consensus and ignores the rest. Nothing is lost by adding the error bar.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A2</a:t>
            </a:r>
            <a:r>
              <a:rPr sz="1900" b="1">
                <a:solidFill>
                  <a:srgbClr val="101010"/>
                </a:solidFill>
                <a:latin typeface="Calibri"/>
              </a:rPr>
              <a:t>     The nine specifications: every control in the demo</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005840"/>
            <a:ext cx="10607040" cy="365760"/>
          </a:xfrm>
          <a:prstGeom prst="rect">
            <a:avLst/>
          </a:prstGeom>
          <a:noFill/>
        </p:spPr>
        <p:txBody>
          <a:bodyPr wrap="square" anchor="t" lIns="0" rIns="0" tIns="0" bIns="0">
            <a:spAutoFit/>
          </a:bodyPr>
          <a:lstStyle/>
          <a:p>
            <a:pPr algn="l">
              <a:lnSpc>
                <a:spcPct val="100000"/>
              </a:lnSpc>
              <a:spcAft>
                <a:spcPts val="600"/>
              </a:spcAft>
            </a:pPr>
            <a:r>
              <a:rPr sz="1200" b="0">
                <a:solidFill>
                  <a:srgbClr val="3D3C38"/>
                </a:solidFill>
                <a:latin typeface="Calibri"/>
              </a:rPr>
              <a:t>Each is a fork where MSCI and Bloomberg publish different choices, or one this data forces. 3 × 3 × 2 × 3 × 4 × 3 × 3 × 3 × 3 = 17,496.</a:t>
            </a:r>
          </a:p>
        </p:txBody>
      </p:sp>
      <p:sp>
        <p:nvSpPr>
          <p:cNvPr id="6" name="Rectangle 5"/>
          <p:cNvSpPr/>
          <p:nvPr/>
        </p:nvSpPr>
        <p:spPr>
          <a:xfrm>
            <a:off x="777240" y="1481328"/>
            <a:ext cx="10607040" cy="329184"/>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36192"/>
            <a:ext cx="2194560" cy="274320"/>
          </a:xfrm>
          <a:prstGeom prst="rect">
            <a:avLst/>
          </a:prstGeom>
          <a:noFill/>
        </p:spPr>
        <p:txBody>
          <a:bodyPr wrap="square" anchor="t" lIns="0" rIns="0" tIns="0" bIns="0">
            <a:spAutoFit/>
          </a:bodyPr>
          <a:lstStyle/>
          <a:p>
            <a:pPr algn="l">
              <a:lnSpc>
                <a:spcPct val="100000"/>
              </a:lnSpc>
              <a:spcAft>
                <a:spcPts val="600"/>
              </a:spcAft>
            </a:pPr>
            <a:r>
              <a:rPr sz="1100" b="1">
                <a:solidFill>
                  <a:srgbClr val="FFFFFF"/>
                </a:solidFill>
                <a:latin typeface="Calibri"/>
              </a:rPr>
              <a:t>Control</a:t>
            </a:r>
          </a:p>
        </p:txBody>
      </p:sp>
      <p:sp>
        <p:nvSpPr>
          <p:cNvPr id="8" name="TextBox 7"/>
          <p:cNvSpPr txBox="1"/>
          <p:nvPr/>
        </p:nvSpPr>
        <p:spPr>
          <a:xfrm>
            <a:off x="3291840" y="1536192"/>
            <a:ext cx="3108960" cy="274320"/>
          </a:xfrm>
          <a:prstGeom prst="rect">
            <a:avLst/>
          </a:prstGeom>
          <a:noFill/>
        </p:spPr>
        <p:txBody>
          <a:bodyPr wrap="square" anchor="t" lIns="0" rIns="0" tIns="0" bIns="0">
            <a:spAutoFit/>
          </a:bodyPr>
          <a:lstStyle/>
          <a:p>
            <a:pPr algn="l">
              <a:lnSpc>
                <a:spcPct val="100000"/>
              </a:lnSpc>
              <a:spcAft>
                <a:spcPts val="600"/>
              </a:spcAft>
            </a:pPr>
            <a:r>
              <a:rPr sz="1100" b="1">
                <a:solidFill>
                  <a:srgbClr val="FFFFFF"/>
                </a:solidFill>
                <a:latin typeface="Calibri"/>
              </a:rPr>
              <a:t>Options in the tool</a:t>
            </a:r>
          </a:p>
        </p:txBody>
      </p:sp>
      <p:sp>
        <p:nvSpPr>
          <p:cNvPr id="9" name="TextBox 8"/>
          <p:cNvSpPr txBox="1"/>
          <p:nvPr/>
        </p:nvSpPr>
        <p:spPr>
          <a:xfrm>
            <a:off x="6537960" y="1536192"/>
            <a:ext cx="4754880" cy="274320"/>
          </a:xfrm>
          <a:prstGeom prst="rect">
            <a:avLst/>
          </a:prstGeom>
          <a:noFill/>
        </p:spPr>
        <p:txBody>
          <a:bodyPr wrap="square" anchor="t" lIns="0" rIns="0" tIns="0" bIns="0">
            <a:spAutoFit/>
          </a:bodyPr>
          <a:lstStyle/>
          <a:p>
            <a:pPr algn="l">
              <a:lnSpc>
                <a:spcPct val="100000"/>
              </a:lnSpc>
              <a:spcAft>
                <a:spcPts val="600"/>
              </a:spcAft>
            </a:pPr>
            <a:r>
              <a:rPr sz="1100" b="1">
                <a:solidFill>
                  <a:srgbClr val="FFFFFF"/>
                </a:solidFill>
                <a:latin typeface="Calibri"/>
              </a:rPr>
              <a:t>Where it comes from</a:t>
            </a:r>
          </a:p>
        </p:txBody>
      </p:sp>
      <p:sp>
        <p:nvSpPr>
          <p:cNvPr id="10" name="Rectangle 9"/>
          <p:cNvSpPr/>
          <p:nvPr/>
        </p:nvSpPr>
        <p:spPr>
          <a:xfrm>
            <a:off x="777240" y="1847088"/>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38528"/>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Exposure base</a:t>
            </a:r>
          </a:p>
        </p:txBody>
      </p:sp>
      <p:sp>
        <p:nvSpPr>
          <p:cNvPr id="12" name="TextBox 11"/>
          <p:cNvSpPr txBox="1"/>
          <p:nvPr/>
        </p:nvSpPr>
        <p:spPr>
          <a:xfrm>
            <a:off x="3291840" y="1938528"/>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EBITDA · equity · output</a:t>
            </a:r>
          </a:p>
        </p:txBody>
      </p:sp>
      <p:sp>
        <p:nvSpPr>
          <p:cNvPr id="13" name="TextBox 12"/>
          <p:cNvSpPr txBox="1"/>
          <p:nvPr/>
        </p:nvSpPr>
        <p:spPr>
          <a:xfrm>
            <a:off x="6537960" y="1938528"/>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Bloomberg activity metrics. Output exists for the 9 producers only</a:t>
            </a:r>
          </a:p>
        </p:txBody>
      </p:sp>
      <p:sp>
        <p:nvSpPr>
          <p:cNvPr id="14" name="TextBox 13"/>
          <p:cNvSpPr txBox="1"/>
          <p:nvPr/>
        </p:nvSpPr>
        <p:spPr>
          <a:xfrm>
            <a:off x="1005840" y="2395728"/>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Window</a:t>
            </a:r>
          </a:p>
        </p:txBody>
      </p:sp>
      <p:sp>
        <p:nvSpPr>
          <p:cNvPr id="15" name="TextBox 14"/>
          <p:cNvSpPr txBox="1"/>
          <p:nvPr/>
        </p:nvSpPr>
        <p:spPr>
          <a:xfrm>
            <a:off x="3291840" y="2395728"/>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latest · fiscal year · 3-year mean</a:t>
            </a:r>
          </a:p>
        </p:txBody>
      </p:sp>
      <p:sp>
        <p:nvSpPr>
          <p:cNvPr id="16" name="TextBox 15"/>
          <p:cNvSpPr txBox="1"/>
          <p:nvPr/>
        </p:nvSpPr>
        <p:spPr>
          <a:xfrm>
            <a:off x="6537960" y="2395728"/>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Bloomberg ships Latest and Fiscal Year as separate products</a:t>
            </a:r>
          </a:p>
        </p:txBody>
      </p:sp>
      <p:sp>
        <p:nvSpPr>
          <p:cNvPr id="17" name="Rectangle 16"/>
          <p:cNvSpPr/>
          <p:nvPr/>
        </p:nvSpPr>
        <p:spPr>
          <a:xfrm>
            <a:off x="777240" y="2761488"/>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2852928"/>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Direction</a:t>
            </a:r>
          </a:p>
        </p:txBody>
      </p:sp>
      <p:sp>
        <p:nvSpPr>
          <p:cNvPr id="19" name="TextBox 18"/>
          <p:cNvSpPr txBox="1"/>
          <p:nvPr/>
        </p:nvSpPr>
        <p:spPr>
          <a:xfrm>
            <a:off x="3291840" y="2852928"/>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level · change</a:t>
            </a:r>
          </a:p>
        </p:txBody>
      </p:sp>
      <p:sp>
        <p:nvSpPr>
          <p:cNvPr id="20" name="TextBox 19"/>
          <p:cNvSpPr txBox="1"/>
          <p:nvPr/>
        </p:nvSpPr>
        <p:spPr>
          <a:xfrm>
            <a:off x="6537960" y="2852928"/>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Curve A against Curve B. The two are scored separately</a:t>
            </a:r>
          </a:p>
        </p:txBody>
      </p:sp>
      <p:sp>
        <p:nvSpPr>
          <p:cNvPr id="21" name="TextBox 20"/>
          <p:cNvSpPr txBox="1"/>
          <p:nvPr/>
        </p:nvSpPr>
        <p:spPr>
          <a:xfrm>
            <a:off x="1005840" y="3310128"/>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Polarity</a:t>
            </a:r>
          </a:p>
        </p:txBody>
      </p:sp>
      <p:sp>
        <p:nvSpPr>
          <p:cNvPr id="22" name="TextBox 21"/>
          <p:cNvSpPr txBox="1"/>
          <p:nvPr/>
        </p:nvSpPr>
        <p:spPr>
          <a:xfrm>
            <a:off x="3291840" y="3310128"/>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orthodox · neutral · stability</a:t>
            </a:r>
          </a:p>
        </p:txBody>
      </p:sp>
      <p:sp>
        <p:nvSpPr>
          <p:cNvPr id="23" name="TextBox 22"/>
          <p:cNvSpPr txBox="1"/>
          <p:nvPr/>
        </p:nvSpPr>
        <p:spPr>
          <a:xfrm>
            <a:off x="6537960" y="3310128"/>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15 fields where the two governance conventions disagree</a:t>
            </a:r>
          </a:p>
        </p:txBody>
      </p:sp>
      <p:sp>
        <p:nvSpPr>
          <p:cNvPr id="24" name="Rectangle 23"/>
          <p:cNvSpPr/>
          <p:nvPr/>
        </p:nvSpPr>
        <p:spPr>
          <a:xfrm>
            <a:off x="777240" y="3675887"/>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37673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Normaliser</a:t>
            </a:r>
          </a:p>
        </p:txBody>
      </p:sp>
      <p:sp>
        <p:nvSpPr>
          <p:cNvPr id="26" name="TextBox 25"/>
          <p:cNvSpPr txBox="1"/>
          <p:nvPr/>
        </p:nvSpPr>
        <p:spPr>
          <a:xfrm>
            <a:off x="3291840" y="37673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percentile · winsorised · log min-max · elasticity</a:t>
            </a:r>
          </a:p>
        </p:txBody>
      </p:sp>
      <p:sp>
        <p:nvSpPr>
          <p:cNvPr id="27" name="TextBox 26"/>
          <p:cNvSpPr txBox="1"/>
          <p:nvPr/>
        </p:nvSpPr>
        <p:spPr>
          <a:xfrm>
            <a:off x="6537960" y="37673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MSCI uses percentile bands. Bloomberg rejects them and fits a log-log residual</a:t>
            </a:r>
          </a:p>
        </p:txBody>
      </p:sp>
      <p:sp>
        <p:nvSpPr>
          <p:cNvPr id="28" name="TextBox 27"/>
          <p:cNvSpPr txBox="1"/>
          <p:nvPr/>
        </p:nvSpPr>
        <p:spPr>
          <a:xfrm>
            <a:off x="1005840" y="42245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Peer set</a:t>
            </a:r>
          </a:p>
        </p:txBody>
      </p:sp>
      <p:sp>
        <p:nvSpPr>
          <p:cNvPr id="29" name="TextBox 28"/>
          <p:cNvSpPr txBox="1"/>
          <p:nvPr/>
        </p:nvSpPr>
        <p:spPr>
          <a:xfrm>
            <a:off x="3291840" y="42245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BECS group · producers · all 18</a:t>
            </a:r>
          </a:p>
        </p:txBody>
      </p:sp>
      <p:sp>
        <p:nvSpPr>
          <p:cNvPr id="30" name="TextBox 29"/>
          <p:cNvSpPr txBox="1"/>
          <p:nvPr/>
        </p:nvSpPr>
        <p:spPr>
          <a:xfrm>
            <a:off x="6537960" y="42245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MSCI uses GICS sub-industry, Bloomberg built BECS</a:t>
            </a:r>
          </a:p>
        </p:txBody>
      </p:sp>
      <p:sp>
        <p:nvSpPr>
          <p:cNvPr id="31" name="Rectangle 30"/>
          <p:cNvSpPr/>
          <p:nvPr/>
        </p:nvSpPr>
        <p:spPr>
          <a:xfrm>
            <a:off x="777240" y="4590288"/>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5840" y="46817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Evidence bar</a:t>
            </a:r>
          </a:p>
        </p:txBody>
      </p:sp>
      <p:sp>
        <p:nvSpPr>
          <p:cNvPr id="33" name="TextBox 32"/>
          <p:cNvSpPr txBox="1"/>
          <p:nvPr/>
        </p:nvSpPr>
        <p:spPr>
          <a:xfrm>
            <a:off x="3291840" y="46817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permissive · majority · strict</a:t>
            </a:r>
          </a:p>
        </p:txBody>
      </p:sp>
      <p:sp>
        <p:nvSpPr>
          <p:cNvPr id="34" name="TextBox 33"/>
          <p:cNvSpPr txBox="1"/>
          <p:nvPr/>
        </p:nvSpPr>
        <p:spPr>
          <a:xfrm>
            <a:off x="6537960" y="46817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Forced by this data. At strict, Social has no fields left</a:t>
            </a:r>
          </a:p>
        </p:txBody>
      </p:sp>
      <p:sp>
        <p:nvSpPr>
          <p:cNvPr id="35" name="TextBox 34"/>
          <p:cNvSpPr txBox="1"/>
          <p:nvPr/>
        </p:nvSpPr>
        <p:spPr>
          <a:xfrm>
            <a:off x="1005840" y="51389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Missing data</a:t>
            </a:r>
          </a:p>
        </p:txBody>
      </p:sp>
      <p:sp>
        <p:nvSpPr>
          <p:cNvPr id="36" name="TextBox 35"/>
          <p:cNvSpPr txBox="1"/>
          <p:nvPr/>
        </p:nvSpPr>
        <p:spPr>
          <a:xfrm>
            <a:off x="3291840" y="51389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excluded · worst case · capped</a:t>
            </a:r>
          </a:p>
        </p:txBody>
      </p:sp>
      <p:sp>
        <p:nvSpPr>
          <p:cNvPr id="37" name="TextBox 36"/>
          <p:cNvSpPr txBox="1"/>
          <p:nvPr/>
        </p:nvSpPr>
        <p:spPr>
          <a:xfrm>
            <a:off x="6537960" y="51389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Bloomberg's sub-issue rule and its Issue Score cap</a:t>
            </a:r>
          </a:p>
        </p:txBody>
      </p:sp>
      <p:sp>
        <p:nvSpPr>
          <p:cNvPr id="38" name="Rectangle 37"/>
          <p:cNvSpPr/>
          <p:nvPr/>
        </p:nvSpPr>
        <p:spPr>
          <a:xfrm>
            <a:off x="777240" y="5504688"/>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55961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Aggregation</a:t>
            </a:r>
          </a:p>
        </p:txBody>
      </p:sp>
      <p:sp>
        <p:nvSpPr>
          <p:cNvPr id="40" name="TextBox 39"/>
          <p:cNvSpPr txBox="1"/>
          <p:nvPr/>
        </p:nvSpPr>
        <p:spPr>
          <a:xfrm>
            <a:off x="3291840" y="55961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arithmetic · power p=½ · geometric</a:t>
            </a:r>
          </a:p>
        </p:txBody>
      </p:sp>
      <p:sp>
        <p:nvSpPr>
          <p:cNvPr id="41" name="TextBox 40"/>
          <p:cNvSpPr txBox="1"/>
          <p:nvPr/>
        </p:nvSpPr>
        <p:spPr>
          <a:xfrm>
            <a:off x="6537960" y="55961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MSCI's weighted mean against Bloomberg's power mean</a:t>
            </a:r>
          </a:p>
        </p:txBody>
      </p:sp>
      <p:sp>
        <p:nvSpPr>
          <p:cNvPr id="42" name="TextBox 41"/>
          <p:cNvSpPr txBox="1"/>
          <p:nvPr/>
        </p:nvSpPr>
        <p:spPr>
          <a:xfrm>
            <a:off x="1005840" y="60533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6B6A63"/>
                </a:solidFill>
                <a:latin typeface="Calibri"/>
              </a:rPr>
              <a:t>Pillar weights</a:t>
            </a:r>
          </a:p>
        </p:txBody>
      </p:sp>
      <p:sp>
        <p:nvSpPr>
          <p:cNvPr id="43" name="TextBox 42"/>
          <p:cNvSpPr txBox="1"/>
          <p:nvPr/>
        </p:nvSpPr>
        <p:spPr>
          <a:xfrm>
            <a:off x="3291840" y="60533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4 sliders, 5 presets</a:t>
            </a:r>
          </a:p>
        </p:txBody>
      </p:sp>
      <p:sp>
        <p:nvSpPr>
          <p:cNvPr id="44" name="TextBox 43"/>
          <p:cNvSpPr txBox="1"/>
          <p:nvPr/>
        </p:nvSpPr>
        <p:spPr>
          <a:xfrm>
            <a:off x="6537960" y="60533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Not a grid axis. Handed to the user, and worth 3.0 places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A3</a:t>
            </a:r>
            <a:r>
              <a:rPr sz="1900" b="1">
                <a:solidFill>
                  <a:srgbClr val="101010"/>
                </a:solidFill>
                <a:latin typeface="Calibri"/>
              </a:rPr>
              <a:t>     Universe, data and coverage</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097280"/>
            <a:ext cx="3383280" cy="13716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1" y="124358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18</a:t>
            </a:r>
          </a:p>
        </p:txBody>
      </p:sp>
      <p:sp>
        <p:nvSpPr>
          <p:cNvPr id="7" name="TextBox 6"/>
          <p:cNvSpPr txBox="1"/>
          <p:nvPr/>
        </p:nvSpPr>
        <p:spPr>
          <a:xfrm>
            <a:off x="1033271" y="1847088"/>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companies</a:t>
            </a:r>
          </a:p>
        </p:txBody>
      </p:sp>
      <p:sp>
        <p:nvSpPr>
          <p:cNvPr id="8" name="TextBox 7"/>
          <p:cNvSpPr txBox="1"/>
          <p:nvPr/>
        </p:nvSpPr>
        <p:spPr>
          <a:xfrm>
            <a:off x="1033271" y="2231136"/>
            <a:ext cx="2880360" cy="118871"/>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18 of the 21 S&amp;P 500 energy constituents at 12 Sep 2026. APA, TPL, EQT and ONEOK have no export.</a:t>
            </a:r>
          </a:p>
        </p:txBody>
      </p:sp>
      <p:sp>
        <p:nvSpPr>
          <p:cNvPr id="9" name="Rectangle 8"/>
          <p:cNvSpPr/>
          <p:nvPr/>
        </p:nvSpPr>
        <p:spPr>
          <a:xfrm>
            <a:off x="4389120" y="1097280"/>
            <a:ext cx="3383280" cy="13716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5152" y="124358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138</a:t>
            </a:r>
          </a:p>
        </p:txBody>
      </p:sp>
      <p:sp>
        <p:nvSpPr>
          <p:cNvPr id="11" name="TextBox 10"/>
          <p:cNvSpPr txBox="1"/>
          <p:nvPr/>
        </p:nvSpPr>
        <p:spPr>
          <a:xfrm>
            <a:off x="4645152" y="1847088"/>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fields</a:t>
            </a:r>
          </a:p>
        </p:txBody>
      </p:sp>
      <p:sp>
        <p:nvSpPr>
          <p:cNvPr id="12" name="TextBox 11"/>
          <p:cNvSpPr txBox="1"/>
          <p:nvPr/>
        </p:nvSpPr>
        <p:spPr>
          <a:xfrm>
            <a:off x="4645152" y="2231136"/>
            <a:ext cx="2880360" cy="118871"/>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E 37 · S 14 · G 78 · F 9. One registry field, DX831, is reported by nobody and excluded.</a:t>
            </a:r>
          </a:p>
        </p:txBody>
      </p:sp>
      <p:sp>
        <p:nvSpPr>
          <p:cNvPr id="13" name="Rectangle 12"/>
          <p:cNvSpPr/>
          <p:nvPr/>
        </p:nvSpPr>
        <p:spPr>
          <a:xfrm>
            <a:off x="8001000" y="1097280"/>
            <a:ext cx="3383280" cy="13716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1" y="124358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17,496</a:t>
            </a:r>
          </a:p>
        </p:txBody>
      </p:sp>
      <p:sp>
        <p:nvSpPr>
          <p:cNvPr id="15" name="TextBox 14"/>
          <p:cNvSpPr txBox="1"/>
          <p:nvPr/>
        </p:nvSpPr>
        <p:spPr>
          <a:xfrm>
            <a:off x="8257031" y="1847088"/>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specifications</a:t>
            </a:r>
          </a:p>
        </p:txBody>
      </p:sp>
      <p:sp>
        <p:nvSpPr>
          <p:cNvPr id="16" name="TextBox 15"/>
          <p:cNvSpPr txBox="1"/>
          <p:nvPr/>
        </p:nvSpPr>
        <p:spPr>
          <a:xfrm>
            <a:off x="8257031" y="2231136"/>
            <a:ext cx="2880360" cy="118871"/>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606 distinct grade paths of 648. Kish effective N 574.</a:t>
            </a:r>
          </a:p>
        </p:txBody>
      </p:sp>
      <p:sp>
        <p:nvSpPr>
          <p:cNvPr id="17" name="TextBox 16"/>
          <p:cNvSpPr txBox="1"/>
          <p:nvPr/>
        </p:nvSpPr>
        <p:spPr>
          <a:xfrm>
            <a:off x="777240" y="2788920"/>
            <a:ext cx="106070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Share of cells filled, by pillar and fiscal year</a:t>
            </a:r>
          </a:p>
        </p:txBody>
      </p:sp>
      <p:sp>
        <p:nvSpPr>
          <p:cNvPr id="18" name="Rectangle 17"/>
          <p:cNvSpPr/>
          <p:nvPr/>
        </p:nvSpPr>
        <p:spPr>
          <a:xfrm>
            <a:off x="777240" y="3172968"/>
            <a:ext cx="10607040" cy="329184"/>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Pillar</a:t>
            </a:r>
          </a:p>
        </p:txBody>
      </p:sp>
      <p:sp>
        <p:nvSpPr>
          <p:cNvPr id="20" name="TextBox 19"/>
          <p:cNvSpPr txBox="1"/>
          <p:nvPr/>
        </p:nvSpPr>
        <p:spPr>
          <a:xfrm>
            <a:off x="2487168"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Fields</a:t>
            </a:r>
          </a:p>
        </p:txBody>
      </p:sp>
      <p:sp>
        <p:nvSpPr>
          <p:cNvPr id="21" name="TextBox 20"/>
          <p:cNvSpPr txBox="1"/>
          <p:nvPr/>
        </p:nvSpPr>
        <p:spPr>
          <a:xfrm>
            <a:off x="3968496"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FY21</a:t>
            </a:r>
          </a:p>
        </p:txBody>
      </p:sp>
      <p:sp>
        <p:nvSpPr>
          <p:cNvPr id="22" name="TextBox 21"/>
          <p:cNvSpPr txBox="1"/>
          <p:nvPr/>
        </p:nvSpPr>
        <p:spPr>
          <a:xfrm>
            <a:off x="5449824"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FY22</a:t>
            </a:r>
          </a:p>
        </p:txBody>
      </p:sp>
      <p:sp>
        <p:nvSpPr>
          <p:cNvPr id="23" name="TextBox 22"/>
          <p:cNvSpPr txBox="1"/>
          <p:nvPr/>
        </p:nvSpPr>
        <p:spPr>
          <a:xfrm>
            <a:off x="6931152"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FY23</a:t>
            </a:r>
          </a:p>
        </p:txBody>
      </p:sp>
      <p:sp>
        <p:nvSpPr>
          <p:cNvPr id="24" name="TextBox 23"/>
          <p:cNvSpPr txBox="1"/>
          <p:nvPr/>
        </p:nvSpPr>
        <p:spPr>
          <a:xfrm>
            <a:off x="8412480"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FY24</a:t>
            </a:r>
          </a:p>
        </p:txBody>
      </p:sp>
      <p:sp>
        <p:nvSpPr>
          <p:cNvPr id="25" name="TextBox 24"/>
          <p:cNvSpPr txBox="1"/>
          <p:nvPr/>
        </p:nvSpPr>
        <p:spPr>
          <a:xfrm>
            <a:off x="9893808"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FY25</a:t>
            </a:r>
          </a:p>
        </p:txBody>
      </p:sp>
      <p:sp>
        <p:nvSpPr>
          <p:cNvPr id="26" name="TextBox 25"/>
          <p:cNvSpPr txBox="1"/>
          <p:nvPr/>
        </p:nvSpPr>
        <p:spPr>
          <a:xfrm>
            <a:off x="1005840"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Environment</a:t>
            </a:r>
          </a:p>
        </p:txBody>
      </p:sp>
      <p:sp>
        <p:nvSpPr>
          <p:cNvPr id="27" name="TextBox 26"/>
          <p:cNvSpPr txBox="1"/>
          <p:nvPr/>
        </p:nvSpPr>
        <p:spPr>
          <a:xfrm>
            <a:off x="2487168"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37</a:t>
            </a:r>
          </a:p>
        </p:txBody>
      </p:sp>
      <p:sp>
        <p:nvSpPr>
          <p:cNvPr id="28" name="TextBox 27"/>
          <p:cNvSpPr txBox="1"/>
          <p:nvPr/>
        </p:nvSpPr>
        <p:spPr>
          <a:xfrm>
            <a:off x="3968496"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59%</a:t>
            </a:r>
          </a:p>
        </p:txBody>
      </p:sp>
      <p:sp>
        <p:nvSpPr>
          <p:cNvPr id="29" name="TextBox 28"/>
          <p:cNvSpPr txBox="1"/>
          <p:nvPr/>
        </p:nvSpPr>
        <p:spPr>
          <a:xfrm>
            <a:off x="5449824"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59%</a:t>
            </a:r>
          </a:p>
        </p:txBody>
      </p:sp>
      <p:sp>
        <p:nvSpPr>
          <p:cNvPr id="30" name="TextBox 29"/>
          <p:cNvSpPr txBox="1"/>
          <p:nvPr/>
        </p:nvSpPr>
        <p:spPr>
          <a:xfrm>
            <a:off x="6931152"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60%</a:t>
            </a:r>
          </a:p>
        </p:txBody>
      </p:sp>
      <p:sp>
        <p:nvSpPr>
          <p:cNvPr id="31" name="TextBox 30"/>
          <p:cNvSpPr txBox="1"/>
          <p:nvPr/>
        </p:nvSpPr>
        <p:spPr>
          <a:xfrm>
            <a:off x="8412480"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61%</a:t>
            </a:r>
          </a:p>
        </p:txBody>
      </p:sp>
      <p:sp>
        <p:nvSpPr>
          <p:cNvPr id="32" name="TextBox 31"/>
          <p:cNvSpPr txBox="1"/>
          <p:nvPr/>
        </p:nvSpPr>
        <p:spPr>
          <a:xfrm>
            <a:off x="9893808" y="3575303"/>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36%</a:t>
            </a:r>
          </a:p>
        </p:txBody>
      </p:sp>
      <p:sp>
        <p:nvSpPr>
          <p:cNvPr id="33" name="Rectangle 32"/>
          <p:cNvSpPr/>
          <p:nvPr/>
        </p:nvSpPr>
        <p:spPr>
          <a:xfrm>
            <a:off x="777240" y="3867911"/>
            <a:ext cx="1060704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Social</a:t>
            </a:r>
          </a:p>
        </p:txBody>
      </p:sp>
      <p:sp>
        <p:nvSpPr>
          <p:cNvPr id="35" name="TextBox 34"/>
          <p:cNvSpPr txBox="1"/>
          <p:nvPr/>
        </p:nvSpPr>
        <p:spPr>
          <a:xfrm>
            <a:off x="2487168"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14</a:t>
            </a:r>
          </a:p>
        </p:txBody>
      </p:sp>
      <p:sp>
        <p:nvSpPr>
          <p:cNvPr id="36" name="TextBox 35"/>
          <p:cNvSpPr txBox="1"/>
          <p:nvPr/>
        </p:nvSpPr>
        <p:spPr>
          <a:xfrm>
            <a:off x="3968496"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65%</a:t>
            </a:r>
          </a:p>
        </p:txBody>
      </p:sp>
      <p:sp>
        <p:nvSpPr>
          <p:cNvPr id="37" name="TextBox 36"/>
          <p:cNvSpPr txBox="1"/>
          <p:nvPr/>
        </p:nvSpPr>
        <p:spPr>
          <a:xfrm>
            <a:off x="5449824"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65%</a:t>
            </a:r>
          </a:p>
        </p:txBody>
      </p:sp>
      <p:sp>
        <p:nvSpPr>
          <p:cNvPr id="38" name="TextBox 37"/>
          <p:cNvSpPr txBox="1"/>
          <p:nvPr/>
        </p:nvSpPr>
        <p:spPr>
          <a:xfrm>
            <a:off x="6931152"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65%</a:t>
            </a:r>
          </a:p>
        </p:txBody>
      </p:sp>
      <p:sp>
        <p:nvSpPr>
          <p:cNvPr id="39" name="TextBox 38"/>
          <p:cNvSpPr txBox="1"/>
          <p:nvPr/>
        </p:nvSpPr>
        <p:spPr>
          <a:xfrm>
            <a:off x="8412480"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66%</a:t>
            </a:r>
          </a:p>
        </p:txBody>
      </p:sp>
      <p:sp>
        <p:nvSpPr>
          <p:cNvPr id="40" name="TextBox 39"/>
          <p:cNvSpPr txBox="1"/>
          <p:nvPr/>
        </p:nvSpPr>
        <p:spPr>
          <a:xfrm>
            <a:off x="9893808" y="3922775"/>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39%</a:t>
            </a:r>
          </a:p>
        </p:txBody>
      </p:sp>
      <p:sp>
        <p:nvSpPr>
          <p:cNvPr id="41" name="TextBox 40"/>
          <p:cNvSpPr txBox="1"/>
          <p:nvPr/>
        </p:nvSpPr>
        <p:spPr>
          <a:xfrm>
            <a:off x="1005840"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Governance</a:t>
            </a:r>
          </a:p>
        </p:txBody>
      </p:sp>
      <p:sp>
        <p:nvSpPr>
          <p:cNvPr id="42" name="TextBox 41"/>
          <p:cNvSpPr txBox="1"/>
          <p:nvPr/>
        </p:nvSpPr>
        <p:spPr>
          <a:xfrm>
            <a:off x="2487168"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78</a:t>
            </a:r>
          </a:p>
        </p:txBody>
      </p:sp>
      <p:sp>
        <p:nvSpPr>
          <p:cNvPr id="43" name="TextBox 42"/>
          <p:cNvSpPr txBox="1"/>
          <p:nvPr/>
        </p:nvSpPr>
        <p:spPr>
          <a:xfrm>
            <a:off x="3968496"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97%</a:t>
            </a:r>
          </a:p>
        </p:txBody>
      </p:sp>
      <p:sp>
        <p:nvSpPr>
          <p:cNvPr id="44" name="TextBox 43"/>
          <p:cNvSpPr txBox="1"/>
          <p:nvPr/>
        </p:nvSpPr>
        <p:spPr>
          <a:xfrm>
            <a:off x="5449824"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97%</a:t>
            </a:r>
          </a:p>
        </p:txBody>
      </p:sp>
      <p:sp>
        <p:nvSpPr>
          <p:cNvPr id="45" name="TextBox 44"/>
          <p:cNvSpPr txBox="1"/>
          <p:nvPr/>
        </p:nvSpPr>
        <p:spPr>
          <a:xfrm>
            <a:off x="6931152"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97%</a:t>
            </a:r>
          </a:p>
        </p:txBody>
      </p:sp>
      <p:sp>
        <p:nvSpPr>
          <p:cNvPr id="46" name="TextBox 45"/>
          <p:cNvSpPr txBox="1"/>
          <p:nvPr/>
        </p:nvSpPr>
        <p:spPr>
          <a:xfrm>
            <a:off x="8412480"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97%</a:t>
            </a:r>
          </a:p>
        </p:txBody>
      </p:sp>
      <p:sp>
        <p:nvSpPr>
          <p:cNvPr id="47" name="TextBox 46"/>
          <p:cNvSpPr txBox="1"/>
          <p:nvPr/>
        </p:nvSpPr>
        <p:spPr>
          <a:xfrm>
            <a:off x="9893808"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92%</a:t>
            </a:r>
          </a:p>
        </p:txBody>
      </p:sp>
      <p:sp>
        <p:nvSpPr>
          <p:cNvPr id="48" name="Rectangle 47"/>
          <p:cNvSpPr/>
          <p:nvPr/>
        </p:nvSpPr>
        <p:spPr>
          <a:xfrm>
            <a:off x="777240" y="4562855"/>
            <a:ext cx="1060704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5840"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Financial</a:t>
            </a:r>
          </a:p>
        </p:txBody>
      </p:sp>
      <p:sp>
        <p:nvSpPr>
          <p:cNvPr id="50" name="TextBox 49"/>
          <p:cNvSpPr txBox="1"/>
          <p:nvPr/>
        </p:nvSpPr>
        <p:spPr>
          <a:xfrm>
            <a:off x="2487168"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a:t>
            </a:r>
          </a:p>
        </p:txBody>
      </p:sp>
      <p:sp>
        <p:nvSpPr>
          <p:cNvPr id="51" name="TextBox 50"/>
          <p:cNvSpPr txBox="1"/>
          <p:nvPr/>
        </p:nvSpPr>
        <p:spPr>
          <a:xfrm>
            <a:off x="3968496"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2" name="TextBox 51"/>
          <p:cNvSpPr txBox="1"/>
          <p:nvPr/>
        </p:nvSpPr>
        <p:spPr>
          <a:xfrm>
            <a:off x="5449824"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3" name="TextBox 52"/>
          <p:cNvSpPr txBox="1"/>
          <p:nvPr/>
        </p:nvSpPr>
        <p:spPr>
          <a:xfrm>
            <a:off x="6931152"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4" name="TextBox 53"/>
          <p:cNvSpPr txBox="1"/>
          <p:nvPr/>
        </p:nvSpPr>
        <p:spPr>
          <a:xfrm>
            <a:off x="8412480"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5" name="TextBox 54"/>
          <p:cNvSpPr txBox="1"/>
          <p:nvPr/>
        </p:nvSpPr>
        <p:spPr>
          <a:xfrm>
            <a:off x="9893808"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6" name="TextBox 55"/>
          <p:cNvSpPr txBox="1"/>
          <p:nvPr/>
        </p:nvSpPr>
        <p:spPr>
          <a:xfrm>
            <a:off x="777240" y="4892040"/>
            <a:ext cx="10607040" cy="822960"/>
          </a:xfrm>
          <a:prstGeom prst="rect">
            <a:avLst/>
          </a:prstGeom>
          <a:noFill/>
        </p:spPr>
        <p:txBody>
          <a:bodyPr wrap="square" anchor="t" lIns="0" rIns="0" tIns="0" bIns="0">
            <a:spAutoFit/>
          </a:bodyPr>
          <a:lstStyle/>
          <a:p>
            <a:pPr algn="l">
              <a:lnSpc>
                <a:spcPct val="120000"/>
              </a:lnSpc>
              <a:spcAft>
                <a:spcPts val="600"/>
              </a:spcAft>
            </a:pPr>
            <a:r>
              <a:rPr sz="1200" b="0">
                <a:solidFill>
                  <a:srgbClr val="3D3C38"/>
                </a:solidFill>
                <a:latin typeface="Calibri"/>
              </a:rPr>
              <a:t>FY2025 is 36% complete for environmental data because sustainability reporting runs a year behind. That lag is why the window control has three settings and not two.</a:t>
            </a:r>
          </a:p>
        </p:txBody>
      </p:sp>
      <p:sp>
        <p:nvSpPr>
          <p:cNvPr id="57" name="Rectangle 56"/>
          <p:cNvSpPr/>
          <p:nvPr/>
        </p:nvSpPr>
        <p:spPr>
          <a:xfrm>
            <a:off x="777240" y="5532120"/>
            <a:ext cx="10607040" cy="868680"/>
          </a:xfrm>
          <a:prstGeom prst="rect">
            <a:avLst/>
          </a:prstGeom>
          <a:noFill/>
          <a:ln w="2540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51560" y="5715000"/>
            <a:ext cx="10058400" cy="54864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Only 3 environmental and 1 social field are reported by all 18 companies. </a:t>
            </a:r>
            <a:r>
              <a:rPr sz="1400" b="0">
                <a:solidFill>
                  <a:srgbClr val="101010"/>
                </a:solidFill>
                <a:latin typeface="Calibri"/>
              </a:rPr>
              <a:t>Sector-wide comparability leaves four fields, all policy flags.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A4</a:t>
            </a:r>
            <a:r>
              <a:rPr sz="1900" b="1">
                <a:solidFill>
                  <a:srgbClr val="101010"/>
                </a:solidFill>
                <a:latin typeface="Calibri"/>
              </a:rPr>
              <a:t>     The environmental indicators, named</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43000"/>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207008"/>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F0947</a:t>
            </a:r>
          </a:p>
        </p:txBody>
      </p:sp>
      <p:sp>
        <p:nvSpPr>
          <p:cNvPr id="7" name="TextBox 6"/>
          <p:cNvSpPr txBox="1"/>
          <p:nvPr/>
        </p:nvSpPr>
        <p:spPr>
          <a:xfrm>
            <a:off x="2971800" y="1207008"/>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Scope 1 GHG / CO2 emissions</a:t>
            </a:r>
          </a:p>
        </p:txBody>
      </p:sp>
      <p:sp>
        <p:nvSpPr>
          <p:cNvPr id="8" name="TextBox 7"/>
          <p:cNvSpPr txBox="1"/>
          <p:nvPr/>
        </p:nvSpPr>
        <p:spPr>
          <a:xfrm>
            <a:off x="6766560" y="1207008"/>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15/18</a:t>
            </a:r>
          </a:p>
        </p:txBody>
      </p:sp>
      <p:sp>
        <p:nvSpPr>
          <p:cNvPr id="9" name="TextBox 8"/>
          <p:cNvSpPr txBox="1"/>
          <p:nvPr/>
        </p:nvSpPr>
        <p:spPr>
          <a:xfrm>
            <a:off x="960120" y="1591056"/>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SA162</a:t>
            </a:r>
          </a:p>
        </p:txBody>
      </p:sp>
      <p:sp>
        <p:nvSpPr>
          <p:cNvPr id="10" name="TextBox 9"/>
          <p:cNvSpPr txBox="1"/>
          <p:nvPr/>
        </p:nvSpPr>
        <p:spPr>
          <a:xfrm>
            <a:off x="2971800" y="1591056"/>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Air pollution reduction policy</a:t>
            </a:r>
          </a:p>
        </p:txBody>
      </p:sp>
      <p:sp>
        <p:nvSpPr>
          <p:cNvPr id="11" name="TextBox 10"/>
          <p:cNvSpPr txBox="1"/>
          <p:nvPr/>
        </p:nvSpPr>
        <p:spPr>
          <a:xfrm>
            <a:off x="6766560" y="159105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18/18</a:t>
            </a:r>
          </a:p>
        </p:txBody>
      </p:sp>
      <p:sp>
        <p:nvSpPr>
          <p:cNvPr id="12" name="Rectangle 11"/>
          <p:cNvSpPr/>
          <p:nvPr/>
        </p:nvSpPr>
        <p:spPr>
          <a:xfrm>
            <a:off x="777240" y="1911095"/>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1975103"/>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SA558</a:t>
            </a:r>
          </a:p>
        </p:txBody>
      </p:sp>
      <p:sp>
        <p:nvSpPr>
          <p:cNvPr id="14" name="TextBox 13"/>
          <p:cNvSpPr txBox="1"/>
          <p:nvPr/>
        </p:nvSpPr>
        <p:spPr>
          <a:xfrm>
            <a:off x="2971800" y="1975103"/>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Claims science-based target</a:t>
            </a:r>
          </a:p>
        </p:txBody>
      </p:sp>
      <p:sp>
        <p:nvSpPr>
          <p:cNvPr id="15" name="TextBox 14"/>
          <p:cNvSpPr txBox="1"/>
          <p:nvPr/>
        </p:nvSpPr>
        <p:spPr>
          <a:xfrm>
            <a:off x="6766560" y="19751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18/18</a:t>
            </a:r>
          </a:p>
        </p:txBody>
      </p:sp>
      <p:sp>
        <p:nvSpPr>
          <p:cNvPr id="16" name="TextBox 15"/>
          <p:cNvSpPr txBox="1"/>
          <p:nvPr/>
        </p:nvSpPr>
        <p:spPr>
          <a:xfrm>
            <a:off x="960120" y="2359151"/>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SA559</a:t>
            </a:r>
          </a:p>
        </p:txBody>
      </p:sp>
      <p:sp>
        <p:nvSpPr>
          <p:cNvPr id="17" name="TextBox 16"/>
          <p:cNvSpPr txBox="1"/>
          <p:nvPr/>
        </p:nvSpPr>
        <p:spPr>
          <a:xfrm>
            <a:off x="2971800" y="2359151"/>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Claims net-zero target</a:t>
            </a:r>
          </a:p>
        </p:txBody>
      </p:sp>
      <p:sp>
        <p:nvSpPr>
          <p:cNvPr id="18" name="TextBox 17"/>
          <p:cNvSpPr txBox="1"/>
          <p:nvPr/>
        </p:nvSpPr>
        <p:spPr>
          <a:xfrm>
            <a:off x="6766560" y="235915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18/18</a:t>
            </a:r>
          </a:p>
        </p:txBody>
      </p:sp>
      <p:sp>
        <p:nvSpPr>
          <p:cNvPr id="19" name="Rectangle 18"/>
          <p:cNvSpPr/>
          <p:nvPr/>
        </p:nvSpPr>
        <p:spPr>
          <a:xfrm>
            <a:off x="777240" y="2679191"/>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2743199"/>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ES007 / F0949 / ES009</a:t>
            </a:r>
          </a:p>
        </p:txBody>
      </p:sp>
      <p:sp>
        <p:nvSpPr>
          <p:cNvPr id="21" name="TextBox 20"/>
          <p:cNvSpPr txBox="1"/>
          <p:nvPr/>
        </p:nvSpPr>
        <p:spPr>
          <a:xfrm>
            <a:off x="2971800" y="2743199"/>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NOx · SOx · VOC emissions</a:t>
            </a:r>
          </a:p>
        </p:txBody>
      </p:sp>
      <p:sp>
        <p:nvSpPr>
          <p:cNvPr id="22" name="TextBox 21"/>
          <p:cNvSpPr txBox="1"/>
          <p:nvPr/>
        </p:nvSpPr>
        <p:spPr>
          <a:xfrm>
            <a:off x="6766560" y="274319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14 / 13 / 14</a:t>
            </a:r>
          </a:p>
        </p:txBody>
      </p:sp>
      <p:sp>
        <p:nvSpPr>
          <p:cNvPr id="23" name="TextBox 22"/>
          <p:cNvSpPr txBox="1"/>
          <p:nvPr/>
        </p:nvSpPr>
        <p:spPr>
          <a:xfrm>
            <a:off x="960120" y="3127247"/>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SA055</a:t>
            </a:r>
          </a:p>
        </p:txBody>
      </p:sp>
      <p:sp>
        <p:nvSpPr>
          <p:cNvPr id="24" name="TextBox 23"/>
          <p:cNvSpPr txBox="1"/>
          <p:nvPr/>
        </p:nvSpPr>
        <p:spPr>
          <a:xfrm>
            <a:off x="2971800" y="3127247"/>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Percent methane of Scope 1</a:t>
            </a:r>
          </a:p>
        </p:txBody>
      </p:sp>
      <p:sp>
        <p:nvSpPr>
          <p:cNvPr id="25" name="TextBox 24"/>
          <p:cNvSpPr txBox="1"/>
          <p:nvPr/>
        </p:nvSpPr>
        <p:spPr>
          <a:xfrm>
            <a:off x="6766560" y="312724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12/18</a:t>
            </a:r>
          </a:p>
        </p:txBody>
      </p:sp>
      <p:sp>
        <p:nvSpPr>
          <p:cNvPr id="26" name="Rectangle 25"/>
          <p:cNvSpPr/>
          <p:nvPr/>
        </p:nvSpPr>
        <p:spPr>
          <a:xfrm>
            <a:off x="777240" y="3447287"/>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3511295"/>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SA020</a:t>
            </a:r>
          </a:p>
        </p:txBody>
      </p:sp>
      <p:sp>
        <p:nvSpPr>
          <p:cNvPr id="28" name="TextBox 27"/>
          <p:cNvSpPr txBox="1"/>
          <p:nvPr/>
        </p:nvSpPr>
        <p:spPr>
          <a:xfrm>
            <a:off x="2971800" y="3511295"/>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Freshwater withdrawals</a:t>
            </a:r>
          </a:p>
        </p:txBody>
      </p:sp>
      <p:sp>
        <p:nvSpPr>
          <p:cNvPr id="29" name="TextBox 28"/>
          <p:cNvSpPr txBox="1"/>
          <p:nvPr/>
        </p:nvSpPr>
        <p:spPr>
          <a:xfrm>
            <a:off x="6766560" y="351129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12/18</a:t>
            </a:r>
          </a:p>
        </p:txBody>
      </p:sp>
      <p:sp>
        <p:nvSpPr>
          <p:cNvPr id="30" name="TextBox 29"/>
          <p:cNvSpPr txBox="1"/>
          <p:nvPr/>
        </p:nvSpPr>
        <p:spPr>
          <a:xfrm>
            <a:off x="960120" y="3895344"/>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ES249 / SA048</a:t>
            </a:r>
          </a:p>
        </p:txBody>
      </p:sp>
      <p:sp>
        <p:nvSpPr>
          <p:cNvPr id="31" name="TextBox 30"/>
          <p:cNvSpPr txBox="1"/>
          <p:nvPr/>
        </p:nvSpPr>
        <p:spPr>
          <a:xfrm>
            <a:off x="2971800" y="3895344"/>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Hydrocarbon spills, volume and count</a:t>
            </a:r>
          </a:p>
        </p:txBody>
      </p:sp>
      <p:sp>
        <p:nvSpPr>
          <p:cNvPr id="32" name="TextBox 31"/>
          <p:cNvSpPr txBox="1"/>
          <p:nvPr/>
        </p:nvSpPr>
        <p:spPr>
          <a:xfrm>
            <a:off x="6766560" y="3895344"/>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11/18</a:t>
            </a:r>
          </a:p>
        </p:txBody>
      </p:sp>
      <p:sp>
        <p:nvSpPr>
          <p:cNvPr id="33" name="Rectangle 32"/>
          <p:cNvSpPr/>
          <p:nvPr/>
        </p:nvSpPr>
        <p:spPr>
          <a:xfrm>
            <a:off x="777240" y="4215383"/>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4279392"/>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F1284</a:t>
            </a:r>
          </a:p>
        </p:txBody>
      </p:sp>
      <p:sp>
        <p:nvSpPr>
          <p:cNvPr id="35" name="TextBox 34"/>
          <p:cNvSpPr txBox="1"/>
          <p:nvPr/>
        </p:nvSpPr>
        <p:spPr>
          <a:xfrm>
            <a:off x="2971800" y="4279392"/>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Embedded carbon in reserves</a:t>
            </a:r>
          </a:p>
        </p:txBody>
      </p:sp>
      <p:sp>
        <p:nvSpPr>
          <p:cNvPr id="36" name="TextBox 35"/>
          <p:cNvSpPr txBox="1"/>
          <p:nvPr/>
        </p:nvSpPr>
        <p:spPr>
          <a:xfrm>
            <a:off x="6766560" y="4279392"/>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9/18</a:t>
            </a:r>
          </a:p>
        </p:txBody>
      </p:sp>
      <p:sp>
        <p:nvSpPr>
          <p:cNvPr id="37" name="TextBox 36"/>
          <p:cNvSpPr txBox="1"/>
          <p:nvPr/>
        </p:nvSpPr>
        <p:spPr>
          <a:xfrm>
            <a:off x="960120" y="4663440"/>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ES027</a:t>
            </a:r>
          </a:p>
        </p:txBody>
      </p:sp>
      <p:sp>
        <p:nvSpPr>
          <p:cNvPr id="38" name="TextBox 37"/>
          <p:cNvSpPr txBox="1"/>
          <p:nvPr/>
        </p:nvSpPr>
        <p:spPr>
          <a:xfrm>
            <a:off x="2971800" y="4663440"/>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Gas flaring</a:t>
            </a:r>
          </a:p>
        </p:txBody>
      </p:sp>
      <p:sp>
        <p:nvSpPr>
          <p:cNvPr id="39" name="TextBox 38"/>
          <p:cNvSpPr txBox="1"/>
          <p:nvPr/>
        </p:nvSpPr>
        <p:spPr>
          <a:xfrm>
            <a:off x="6766560" y="4663440"/>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9/18</a:t>
            </a:r>
          </a:p>
        </p:txBody>
      </p:sp>
      <p:sp>
        <p:nvSpPr>
          <p:cNvPr id="40" name="Rectangle 39"/>
          <p:cNvSpPr/>
          <p:nvPr/>
        </p:nvSpPr>
        <p:spPr>
          <a:xfrm>
            <a:off x="777240" y="4983479"/>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0120" y="5047488"/>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SA084 / SA085</a:t>
            </a:r>
          </a:p>
        </p:txBody>
      </p:sp>
      <p:sp>
        <p:nvSpPr>
          <p:cNvPr id="42" name="TextBox 41"/>
          <p:cNvSpPr txBox="1"/>
          <p:nvPr/>
        </p:nvSpPr>
        <p:spPr>
          <a:xfrm>
            <a:off x="2971800" y="5047488"/>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Internal carbon price · Arctic drilling</a:t>
            </a:r>
          </a:p>
        </p:txBody>
      </p:sp>
      <p:sp>
        <p:nvSpPr>
          <p:cNvPr id="43" name="TextBox 42"/>
          <p:cNvSpPr txBox="1"/>
          <p:nvPr/>
        </p:nvSpPr>
        <p:spPr>
          <a:xfrm>
            <a:off x="6766560" y="5047488"/>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9/18</a:t>
            </a:r>
          </a:p>
        </p:txBody>
      </p:sp>
      <p:sp>
        <p:nvSpPr>
          <p:cNvPr id="44" name="TextBox 43"/>
          <p:cNvSpPr txBox="1"/>
          <p:nvPr/>
        </p:nvSpPr>
        <p:spPr>
          <a:xfrm>
            <a:off x="960120" y="5431536"/>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ES019 / SA016 / SA023</a:t>
            </a:r>
          </a:p>
        </p:txBody>
      </p:sp>
      <p:sp>
        <p:nvSpPr>
          <p:cNvPr id="45" name="TextBox 44"/>
          <p:cNvSpPr txBox="1"/>
          <p:nvPr/>
        </p:nvSpPr>
        <p:spPr>
          <a:xfrm>
            <a:off x="2971800" y="5431536"/>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Hazardous waste: total, share, recycled</a:t>
            </a:r>
          </a:p>
        </p:txBody>
      </p:sp>
      <p:sp>
        <p:nvSpPr>
          <p:cNvPr id="46" name="TextBox 45"/>
          <p:cNvSpPr txBox="1"/>
          <p:nvPr/>
        </p:nvSpPr>
        <p:spPr>
          <a:xfrm>
            <a:off x="6766560" y="54315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7 / 5 / 4</a:t>
            </a:r>
          </a:p>
        </p:txBody>
      </p:sp>
      <p:sp>
        <p:nvSpPr>
          <p:cNvPr id="47" name="Rectangle 46"/>
          <p:cNvSpPr/>
          <p:nvPr/>
        </p:nvSpPr>
        <p:spPr>
          <a:xfrm>
            <a:off x="777240" y="5751575"/>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60120" y="5815583"/>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ES077 / ES255</a:t>
            </a:r>
          </a:p>
        </p:txBody>
      </p:sp>
      <p:sp>
        <p:nvSpPr>
          <p:cNvPr id="49" name="TextBox 48"/>
          <p:cNvSpPr txBox="1"/>
          <p:nvPr/>
        </p:nvSpPr>
        <p:spPr>
          <a:xfrm>
            <a:off x="2971800" y="5815583"/>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Scope 2, location and market based</a:t>
            </a:r>
          </a:p>
        </p:txBody>
      </p:sp>
      <p:sp>
        <p:nvSpPr>
          <p:cNvPr id="50" name="TextBox 49"/>
          <p:cNvSpPr txBox="1"/>
          <p:nvPr/>
        </p:nvSpPr>
        <p:spPr>
          <a:xfrm>
            <a:off x="6766560" y="581558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2/18</a:t>
            </a:r>
          </a:p>
        </p:txBody>
      </p:sp>
      <p:sp>
        <p:nvSpPr>
          <p:cNvPr id="51" name="Rectangle 50"/>
          <p:cNvSpPr/>
          <p:nvPr/>
        </p:nvSpPr>
        <p:spPr>
          <a:xfrm>
            <a:off x="8138160" y="1143000"/>
            <a:ext cx="3246120" cy="2194560"/>
          </a:xfrm>
          <a:prstGeom prst="rect">
            <a:avLst/>
          </a:prstGeom>
          <a:noFill/>
          <a:ln w="3175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12480" y="1371600"/>
            <a:ext cx="2743200" cy="1828800"/>
          </a:xfrm>
          <a:prstGeom prst="rect">
            <a:avLst/>
          </a:prstGeom>
          <a:noFill/>
        </p:spPr>
        <p:txBody>
          <a:bodyPr wrap="square" anchor="t" lIns="0" rIns="0" tIns="0" bIns="0">
            <a:spAutoFit/>
          </a:bodyPr>
          <a:lstStyle/>
          <a:p>
            <a:pPr algn="l">
              <a:lnSpc>
                <a:spcPct val="115000"/>
              </a:lnSpc>
              <a:spcAft>
                <a:spcPts val="600"/>
              </a:spcAft>
            </a:pPr>
            <a:r>
              <a:rPr sz="2600" b="1">
                <a:solidFill>
                  <a:srgbClr val="C04A12"/>
                </a:solidFill>
                <a:latin typeface="Calibri"/>
              </a:rPr>
              <a:t>Scope 3</a:t>
            </a:r>
          </a:p>
          <a:p>
            <a:pPr algn="l">
              <a:lnSpc>
                <a:spcPct val="115000"/>
              </a:lnSpc>
              <a:spcAft>
                <a:spcPts val="600"/>
              </a:spcAft>
            </a:pPr>
            <a:r>
              <a:rPr sz="1400" b="1">
                <a:solidFill>
                  <a:srgbClr val="101010"/>
                </a:solidFill>
                <a:latin typeface="Calibri"/>
              </a:rPr>
              <a:t>is absent from all 138 fields.</a:t>
            </a:r>
          </a:p>
          <a:p>
            <a:pPr algn="l">
              <a:lnSpc>
                <a:spcPct val="115000"/>
              </a:lnSpc>
              <a:spcAft>
                <a:spcPts val="600"/>
              </a:spcAft>
            </a:pPr>
            <a:r>
              <a:rPr sz="1100" b="0">
                <a:solidFill>
                  <a:srgbClr val="3D3C38"/>
                </a:solidFill>
                <a:latin typeface="Calibri"/>
              </a:rPr>
              <a:t>Bloomberg's ES map for these peer groups does not carry it. It is the largest gap in this framework for oil and gas, and we say so on page 5.</a:t>
            </a:r>
          </a:p>
        </p:txBody>
      </p:sp>
      <p:sp>
        <p:nvSpPr>
          <p:cNvPr id="53" name="Rectangle 52"/>
          <p:cNvSpPr/>
          <p:nvPr/>
        </p:nvSpPr>
        <p:spPr>
          <a:xfrm>
            <a:off x="8138160" y="3520440"/>
            <a:ext cx="3246120" cy="13716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394192" y="3666744"/>
            <a:ext cx="274320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SA055</a:t>
            </a:r>
          </a:p>
        </p:txBody>
      </p:sp>
      <p:sp>
        <p:nvSpPr>
          <p:cNvPr id="55" name="TextBox 54"/>
          <p:cNvSpPr txBox="1"/>
          <p:nvPr/>
        </p:nvSpPr>
        <p:spPr>
          <a:xfrm>
            <a:off x="8394192" y="4270248"/>
            <a:ext cx="274320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Methane is present</a:t>
            </a:r>
          </a:p>
        </p:txBody>
      </p:sp>
      <p:sp>
        <p:nvSpPr>
          <p:cNvPr id="56" name="TextBox 55"/>
          <p:cNvSpPr txBox="1"/>
          <p:nvPr/>
        </p:nvSpPr>
        <p:spPr>
          <a:xfrm>
            <a:off x="8394192" y="4654296"/>
            <a:ext cx="2743200" cy="118872"/>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SA055, percent of Scope 1, reported by 12 of 18.</a:t>
            </a:r>
          </a:p>
        </p:txBody>
      </p:sp>
      <p:sp>
        <p:nvSpPr>
          <p:cNvPr id="57" name="Rectangle 56"/>
          <p:cNvSpPr/>
          <p:nvPr/>
        </p:nvSpPr>
        <p:spPr>
          <a:xfrm>
            <a:off x="8138160" y="5029200"/>
            <a:ext cx="3246120" cy="12344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394192" y="5175504"/>
            <a:ext cx="274320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37</a:t>
            </a:r>
          </a:p>
        </p:txBody>
      </p:sp>
      <p:sp>
        <p:nvSpPr>
          <p:cNvPr id="59" name="TextBox 58"/>
          <p:cNvSpPr txBox="1"/>
          <p:nvPr/>
        </p:nvSpPr>
        <p:spPr>
          <a:xfrm>
            <a:off x="8394192" y="5779008"/>
            <a:ext cx="274320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37 environmental fields</a:t>
            </a:r>
          </a:p>
        </p:txBody>
      </p:sp>
      <p:sp>
        <p:nvSpPr>
          <p:cNvPr id="60" name="TextBox 59"/>
          <p:cNvSpPr txBox="1"/>
          <p:nvPr/>
        </p:nvSpPr>
        <p:spPr>
          <a:xfrm>
            <a:off x="8394192" y="6163056"/>
            <a:ext cx="2743200" cy="-18288"/>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The 15 not listed here are policy booleans. Full registry in the repo.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A5</a:t>
            </a:r>
            <a:r>
              <a:rPr sz="1900" b="1">
                <a:solidFill>
                  <a:srgbClr val="101010"/>
                </a:solidFill>
                <a:latin typeface="Calibri"/>
              </a:rPr>
              <a:t>     All 18 companies, Curve A, equal weights</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43000"/>
            <a:ext cx="5029200" cy="31089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a:t>
            </a:r>
          </a:p>
        </p:txBody>
      </p:sp>
      <p:sp>
        <p:nvSpPr>
          <p:cNvPr id="7" name="TextBox 6"/>
          <p:cNvSpPr txBox="1"/>
          <p:nvPr/>
        </p:nvSpPr>
        <p:spPr>
          <a:xfrm>
            <a:off x="214884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Ticker</a:t>
            </a:r>
          </a:p>
        </p:txBody>
      </p:sp>
      <p:sp>
        <p:nvSpPr>
          <p:cNvPr id="8" name="TextBox 7"/>
          <p:cNvSpPr txBox="1"/>
          <p:nvPr/>
        </p:nvSpPr>
        <p:spPr>
          <a:xfrm>
            <a:off x="306324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Group</a:t>
            </a:r>
          </a:p>
        </p:txBody>
      </p:sp>
      <p:sp>
        <p:nvSpPr>
          <p:cNvPr id="9" name="TextBox 8"/>
          <p:cNvSpPr txBox="1"/>
          <p:nvPr/>
        </p:nvSpPr>
        <p:spPr>
          <a:xfrm>
            <a:off x="448056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Cons.</a:t>
            </a:r>
          </a:p>
        </p:txBody>
      </p:sp>
      <p:sp>
        <p:nvSpPr>
          <p:cNvPr id="10" name="TextBox 9"/>
          <p:cNvSpPr txBox="1"/>
          <p:nvPr/>
        </p:nvSpPr>
        <p:spPr>
          <a:xfrm>
            <a:off x="521208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Places</a:t>
            </a:r>
          </a:p>
        </p:txBody>
      </p:sp>
      <p:sp>
        <p:nvSpPr>
          <p:cNvPr id="11" name="TextBox 10"/>
          <p:cNvSpPr txBox="1"/>
          <p:nvPr/>
        </p:nvSpPr>
        <p:spPr>
          <a:xfrm>
            <a:off x="603504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Cov.</a:t>
            </a:r>
          </a:p>
        </p:txBody>
      </p:sp>
      <p:sp>
        <p:nvSpPr>
          <p:cNvPr id="12" name="Rectangle 11"/>
          <p:cNvSpPr/>
          <p:nvPr/>
        </p:nvSpPr>
        <p:spPr>
          <a:xfrm>
            <a:off x="777240" y="1490472"/>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a:t>
            </a:r>
          </a:p>
        </p:txBody>
      </p:sp>
      <p:sp>
        <p:nvSpPr>
          <p:cNvPr id="14" name="TextBox 13"/>
          <p:cNvSpPr txBox="1"/>
          <p:nvPr/>
        </p:nvSpPr>
        <p:spPr>
          <a:xfrm>
            <a:off x="1234440" y="1545336"/>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BKR</a:t>
            </a:r>
          </a:p>
        </p:txBody>
      </p:sp>
      <p:sp>
        <p:nvSpPr>
          <p:cNvPr id="15" name="TextBox 14"/>
          <p:cNvSpPr txBox="1"/>
          <p:nvPr/>
        </p:nvSpPr>
        <p:spPr>
          <a:xfrm>
            <a:off x="214884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Services</a:t>
            </a:r>
          </a:p>
        </p:txBody>
      </p:sp>
      <p:sp>
        <p:nvSpPr>
          <p:cNvPr id="16" name="TextBox 15"/>
          <p:cNvSpPr txBox="1"/>
          <p:nvPr/>
        </p:nvSpPr>
        <p:spPr>
          <a:xfrm>
            <a:off x="3566160" y="1545336"/>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82</a:t>
            </a:r>
          </a:p>
        </p:txBody>
      </p:sp>
      <p:sp>
        <p:nvSpPr>
          <p:cNvPr id="17" name="TextBox 16"/>
          <p:cNvSpPr txBox="1"/>
          <p:nvPr/>
        </p:nvSpPr>
        <p:spPr>
          <a:xfrm>
            <a:off x="429768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18" name="TextBox 17"/>
          <p:cNvSpPr txBox="1"/>
          <p:nvPr/>
        </p:nvSpPr>
        <p:spPr>
          <a:xfrm>
            <a:off x="512064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78%</a:t>
            </a:r>
          </a:p>
        </p:txBody>
      </p:sp>
      <p:sp>
        <p:nvSpPr>
          <p:cNvPr id="19" name="TextBox 18"/>
          <p:cNvSpPr txBox="1"/>
          <p:nvPr/>
        </p:nvSpPr>
        <p:spPr>
          <a:xfrm>
            <a:off x="91440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2</a:t>
            </a:r>
          </a:p>
        </p:txBody>
      </p:sp>
      <p:sp>
        <p:nvSpPr>
          <p:cNvPr id="20" name="TextBox 19"/>
          <p:cNvSpPr txBox="1"/>
          <p:nvPr/>
        </p:nvSpPr>
        <p:spPr>
          <a:xfrm>
            <a:off x="1234440" y="187451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EXE</a:t>
            </a:r>
          </a:p>
        </p:txBody>
      </p:sp>
      <p:sp>
        <p:nvSpPr>
          <p:cNvPr id="21" name="TextBox 20"/>
          <p:cNvSpPr txBox="1"/>
          <p:nvPr/>
        </p:nvSpPr>
        <p:spPr>
          <a:xfrm>
            <a:off x="214884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22" name="TextBox 21"/>
          <p:cNvSpPr txBox="1"/>
          <p:nvPr/>
        </p:nvSpPr>
        <p:spPr>
          <a:xfrm>
            <a:off x="3566160" y="187451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82</a:t>
            </a:r>
          </a:p>
        </p:txBody>
      </p:sp>
      <p:sp>
        <p:nvSpPr>
          <p:cNvPr id="23" name="TextBox 22"/>
          <p:cNvSpPr txBox="1"/>
          <p:nvPr/>
        </p:nvSpPr>
        <p:spPr>
          <a:xfrm>
            <a:off x="429768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24" name="TextBox 23"/>
          <p:cNvSpPr txBox="1"/>
          <p:nvPr/>
        </p:nvSpPr>
        <p:spPr>
          <a:xfrm>
            <a:off x="512064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91%</a:t>
            </a:r>
          </a:p>
        </p:txBody>
      </p:sp>
      <p:sp>
        <p:nvSpPr>
          <p:cNvPr id="25" name="Rectangle 24"/>
          <p:cNvSpPr/>
          <p:nvPr/>
        </p:nvSpPr>
        <p:spPr>
          <a:xfrm>
            <a:off x="777240" y="2148839"/>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3</a:t>
            </a:r>
          </a:p>
        </p:txBody>
      </p:sp>
      <p:sp>
        <p:nvSpPr>
          <p:cNvPr id="27" name="TextBox 26"/>
          <p:cNvSpPr txBox="1"/>
          <p:nvPr/>
        </p:nvSpPr>
        <p:spPr>
          <a:xfrm>
            <a:off x="1234440" y="220370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CTRA</a:t>
            </a:r>
          </a:p>
        </p:txBody>
      </p:sp>
      <p:sp>
        <p:nvSpPr>
          <p:cNvPr id="28" name="TextBox 27"/>
          <p:cNvSpPr txBox="1"/>
          <p:nvPr/>
        </p:nvSpPr>
        <p:spPr>
          <a:xfrm>
            <a:off x="214884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29" name="TextBox 28"/>
          <p:cNvSpPr txBox="1"/>
          <p:nvPr/>
        </p:nvSpPr>
        <p:spPr>
          <a:xfrm>
            <a:off x="3566160" y="220370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76</a:t>
            </a:r>
          </a:p>
        </p:txBody>
      </p:sp>
      <p:sp>
        <p:nvSpPr>
          <p:cNvPr id="30" name="TextBox 29"/>
          <p:cNvSpPr txBox="1"/>
          <p:nvPr/>
        </p:nvSpPr>
        <p:spPr>
          <a:xfrm>
            <a:off x="429768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7.0</a:t>
            </a:r>
          </a:p>
        </p:txBody>
      </p:sp>
      <p:sp>
        <p:nvSpPr>
          <p:cNvPr id="31" name="TextBox 30"/>
          <p:cNvSpPr txBox="1"/>
          <p:nvPr/>
        </p:nvSpPr>
        <p:spPr>
          <a:xfrm>
            <a:off x="512064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81%</a:t>
            </a:r>
          </a:p>
        </p:txBody>
      </p:sp>
      <p:sp>
        <p:nvSpPr>
          <p:cNvPr id="32" name="TextBox 31"/>
          <p:cNvSpPr txBox="1"/>
          <p:nvPr/>
        </p:nvSpPr>
        <p:spPr>
          <a:xfrm>
            <a:off x="91440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4</a:t>
            </a:r>
          </a:p>
        </p:txBody>
      </p:sp>
      <p:sp>
        <p:nvSpPr>
          <p:cNvPr id="33" name="TextBox 32"/>
          <p:cNvSpPr txBox="1"/>
          <p:nvPr/>
        </p:nvSpPr>
        <p:spPr>
          <a:xfrm>
            <a:off x="1234440" y="253288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VLO</a:t>
            </a:r>
          </a:p>
        </p:txBody>
      </p:sp>
      <p:sp>
        <p:nvSpPr>
          <p:cNvPr id="34" name="TextBox 33"/>
          <p:cNvSpPr txBox="1"/>
          <p:nvPr/>
        </p:nvSpPr>
        <p:spPr>
          <a:xfrm>
            <a:off x="214884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Refining</a:t>
            </a:r>
          </a:p>
        </p:txBody>
      </p:sp>
      <p:sp>
        <p:nvSpPr>
          <p:cNvPr id="35" name="TextBox 34"/>
          <p:cNvSpPr txBox="1"/>
          <p:nvPr/>
        </p:nvSpPr>
        <p:spPr>
          <a:xfrm>
            <a:off x="3566160" y="253288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71</a:t>
            </a:r>
          </a:p>
        </p:txBody>
      </p:sp>
      <p:sp>
        <p:nvSpPr>
          <p:cNvPr id="36" name="TextBox 35"/>
          <p:cNvSpPr txBox="1"/>
          <p:nvPr/>
        </p:nvSpPr>
        <p:spPr>
          <a:xfrm>
            <a:off x="429768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5.0</a:t>
            </a:r>
          </a:p>
        </p:txBody>
      </p:sp>
      <p:sp>
        <p:nvSpPr>
          <p:cNvPr id="37" name="TextBox 36"/>
          <p:cNvSpPr txBox="1"/>
          <p:nvPr/>
        </p:nvSpPr>
        <p:spPr>
          <a:xfrm>
            <a:off x="512064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77%</a:t>
            </a:r>
          </a:p>
        </p:txBody>
      </p:sp>
      <p:sp>
        <p:nvSpPr>
          <p:cNvPr id="38" name="Rectangle 37"/>
          <p:cNvSpPr/>
          <p:nvPr/>
        </p:nvSpPr>
        <p:spPr>
          <a:xfrm>
            <a:off x="777240" y="2807207"/>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5</a:t>
            </a:r>
          </a:p>
        </p:txBody>
      </p:sp>
      <p:sp>
        <p:nvSpPr>
          <p:cNvPr id="40" name="TextBox 39"/>
          <p:cNvSpPr txBox="1"/>
          <p:nvPr/>
        </p:nvSpPr>
        <p:spPr>
          <a:xfrm>
            <a:off x="1234440" y="2862071"/>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EOG</a:t>
            </a:r>
          </a:p>
        </p:txBody>
      </p:sp>
      <p:sp>
        <p:nvSpPr>
          <p:cNvPr id="41" name="TextBox 40"/>
          <p:cNvSpPr txBox="1"/>
          <p:nvPr/>
        </p:nvSpPr>
        <p:spPr>
          <a:xfrm>
            <a:off x="214884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42" name="TextBox 41"/>
          <p:cNvSpPr txBox="1"/>
          <p:nvPr/>
        </p:nvSpPr>
        <p:spPr>
          <a:xfrm>
            <a:off x="3566160" y="2862071"/>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71</a:t>
            </a:r>
          </a:p>
        </p:txBody>
      </p:sp>
      <p:sp>
        <p:nvSpPr>
          <p:cNvPr id="43" name="TextBox 42"/>
          <p:cNvSpPr txBox="1"/>
          <p:nvPr/>
        </p:nvSpPr>
        <p:spPr>
          <a:xfrm>
            <a:off x="429768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10.0</a:t>
            </a:r>
          </a:p>
        </p:txBody>
      </p:sp>
      <p:sp>
        <p:nvSpPr>
          <p:cNvPr id="44" name="TextBox 43"/>
          <p:cNvSpPr txBox="1"/>
          <p:nvPr/>
        </p:nvSpPr>
        <p:spPr>
          <a:xfrm>
            <a:off x="512064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90%</a:t>
            </a:r>
          </a:p>
        </p:txBody>
      </p:sp>
      <p:sp>
        <p:nvSpPr>
          <p:cNvPr id="45" name="TextBox 44"/>
          <p:cNvSpPr txBox="1"/>
          <p:nvPr/>
        </p:nvSpPr>
        <p:spPr>
          <a:xfrm>
            <a:off x="91440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a:t>
            </a:r>
          </a:p>
        </p:txBody>
      </p:sp>
      <p:sp>
        <p:nvSpPr>
          <p:cNvPr id="46" name="TextBox 45"/>
          <p:cNvSpPr txBox="1"/>
          <p:nvPr/>
        </p:nvSpPr>
        <p:spPr>
          <a:xfrm>
            <a:off x="1234440" y="3191255"/>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SLB</a:t>
            </a:r>
          </a:p>
        </p:txBody>
      </p:sp>
      <p:sp>
        <p:nvSpPr>
          <p:cNvPr id="47" name="TextBox 46"/>
          <p:cNvSpPr txBox="1"/>
          <p:nvPr/>
        </p:nvSpPr>
        <p:spPr>
          <a:xfrm>
            <a:off x="214884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Services</a:t>
            </a:r>
          </a:p>
        </p:txBody>
      </p:sp>
      <p:sp>
        <p:nvSpPr>
          <p:cNvPr id="48" name="TextBox 47"/>
          <p:cNvSpPr txBox="1"/>
          <p:nvPr/>
        </p:nvSpPr>
        <p:spPr>
          <a:xfrm>
            <a:off x="3566160" y="3191255"/>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65</a:t>
            </a:r>
          </a:p>
        </p:txBody>
      </p:sp>
      <p:sp>
        <p:nvSpPr>
          <p:cNvPr id="49" name="TextBox 48"/>
          <p:cNvSpPr txBox="1"/>
          <p:nvPr/>
        </p:nvSpPr>
        <p:spPr>
          <a:xfrm>
            <a:off x="429768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7.0</a:t>
            </a:r>
          </a:p>
        </p:txBody>
      </p:sp>
      <p:sp>
        <p:nvSpPr>
          <p:cNvPr id="50" name="TextBox 49"/>
          <p:cNvSpPr txBox="1"/>
          <p:nvPr/>
        </p:nvSpPr>
        <p:spPr>
          <a:xfrm>
            <a:off x="512064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78%</a:t>
            </a:r>
          </a:p>
        </p:txBody>
      </p:sp>
      <p:sp>
        <p:nvSpPr>
          <p:cNvPr id="51" name="Rectangle 50"/>
          <p:cNvSpPr/>
          <p:nvPr/>
        </p:nvSpPr>
        <p:spPr>
          <a:xfrm>
            <a:off x="777240" y="3465575"/>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440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a:t>
            </a:r>
          </a:p>
        </p:txBody>
      </p:sp>
      <p:sp>
        <p:nvSpPr>
          <p:cNvPr id="53" name="TextBox 52"/>
          <p:cNvSpPr txBox="1"/>
          <p:nvPr/>
        </p:nvSpPr>
        <p:spPr>
          <a:xfrm>
            <a:off x="1234440" y="352043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COP</a:t>
            </a:r>
          </a:p>
        </p:txBody>
      </p:sp>
      <p:sp>
        <p:nvSpPr>
          <p:cNvPr id="54" name="TextBox 53"/>
          <p:cNvSpPr txBox="1"/>
          <p:nvPr/>
        </p:nvSpPr>
        <p:spPr>
          <a:xfrm>
            <a:off x="214884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55" name="TextBox 54"/>
          <p:cNvSpPr txBox="1"/>
          <p:nvPr/>
        </p:nvSpPr>
        <p:spPr>
          <a:xfrm>
            <a:off x="3566160" y="352043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53</a:t>
            </a:r>
          </a:p>
        </p:txBody>
      </p:sp>
      <p:sp>
        <p:nvSpPr>
          <p:cNvPr id="56" name="TextBox 55"/>
          <p:cNvSpPr txBox="1"/>
          <p:nvPr/>
        </p:nvSpPr>
        <p:spPr>
          <a:xfrm>
            <a:off x="429768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57" name="TextBox 56"/>
          <p:cNvSpPr txBox="1"/>
          <p:nvPr/>
        </p:nvSpPr>
        <p:spPr>
          <a:xfrm>
            <a:off x="512064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93%</a:t>
            </a:r>
          </a:p>
        </p:txBody>
      </p:sp>
      <p:sp>
        <p:nvSpPr>
          <p:cNvPr id="58" name="TextBox 57"/>
          <p:cNvSpPr txBox="1"/>
          <p:nvPr/>
        </p:nvSpPr>
        <p:spPr>
          <a:xfrm>
            <a:off x="91440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8</a:t>
            </a:r>
          </a:p>
        </p:txBody>
      </p:sp>
      <p:sp>
        <p:nvSpPr>
          <p:cNvPr id="59" name="TextBox 58"/>
          <p:cNvSpPr txBox="1"/>
          <p:nvPr/>
        </p:nvSpPr>
        <p:spPr>
          <a:xfrm>
            <a:off x="1234440" y="384962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OXY</a:t>
            </a:r>
          </a:p>
        </p:txBody>
      </p:sp>
      <p:sp>
        <p:nvSpPr>
          <p:cNvPr id="60" name="TextBox 59"/>
          <p:cNvSpPr txBox="1"/>
          <p:nvPr/>
        </p:nvSpPr>
        <p:spPr>
          <a:xfrm>
            <a:off x="214884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61" name="TextBox 60"/>
          <p:cNvSpPr txBox="1"/>
          <p:nvPr/>
        </p:nvSpPr>
        <p:spPr>
          <a:xfrm>
            <a:off x="3566160" y="384962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47</a:t>
            </a:r>
          </a:p>
        </p:txBody>
      </p:sp>
      <p:sp>
        <p:nvSpPr>
          <p:cNvPr id="62" name="TextBox 61"/>
          <p:cNvSpPr txBox="1"/>
          <p:nvPr/>
        </p:nvSpPr>
        <p:spPr>
          <a:xfrm>
            <a:off x="429768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10.0</a:t>
            </a:r>
          </a:p>
        </p:txBody>
      </p:sp>
      <p:sp>
        <p:nvSpPr>
          <p:cNvPr id="63" name="TextBox 62"/>
          <p:cNvSpPr txBox="1"/>
          <p:nvPr/>
        </p:nvSpPr>
        <p:spPr>
          <a:xfrm>
            <a:off x="512064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92%</a:t>
            </a:r>
          </a:p>
        </p:txBody>
      </p:sp>
      <p:sp>
        <p:nvSpPr>
          <p:cNvPr id="64" name="Rectangle 63"/>
          <p:cNvSpPr/>
          <p:nvPr/>
        </p:nvSpPr>
        <p:spPr>
          <a:xfrm>
            <a:off x="777240" y="4123944"/>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1440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a:t>
            </a:r>
          </a:p>
        </p:txBody>
      </p:sp>
      <p:sp>
        <p:nvSpPr>
          <p:cNvPr id="66" name="TextBox 65"/>
          <p:cNvSpPr txBox="1"/>
          <p:nvPr/>
        </p:nvSpPr>
        <p:spPr>
          <a:xfrm>
            <a:off x="1234440" y="417880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XOM</a:t>
            </a:r>
          </a:p>
        </p:txBody>
      </p:sp>
      <p:sp>
        <p:nvSpPr>
          <p:cNvPr id="67" name="TextBox 66"/>
          <p:cNvSpPr txBox="1"/>
          <p:nvPr/>
        </p:nvSpPr>
        <p:spPr>
          <a:xfrm>
            <a:off x="214884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Integrated</a:t>
            </a:r>
          </a:p>
        </p:txBody>
      </p:sp>
      <p:sp>
        <p:nvSpPr>
          <p:cNvPr id="68" name="TextBox 67"/>
          <p:cNvSpPr txBox="1"/>
          <p:nvPr/>
        </p:nvSpPr>
        <p:spPr>
          <a:xfrm>
            <a:off x="3566160" y="417880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47</a:t>
            </a:r>
          </a:p>
        </p:txBody>
      </p:sp>
      <p:sp>
        <p:nvSpPr>
          <p:cNvPr id="69" name="TextBox 68"/>
          <p:cNvSpPr txBox="1"/>
          <p:nvPr/>
        </p:nvSpPr>
        <p:spPr>
          <a:xfrm>
            <a:off x="429768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70" name="TextBox 69"/>
          <p:cNvSpPr txBox="1"/>
          <p:nvPr/>
        </p:nvSpPr>
        <p:spPr>
          <a:xfrm>
            <a:off x="512064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99%</a:t>
            </a:r>
          </a:p>
        </p:txBody>
      </p:sp>
      <p:sp>
        <p:nvSpPr>
          <p:cNvPr id="71" name="Rectangle 70"/>
          <p:cNvSpPr/>
          <p:nvPr/>
        </p:nvSpPr>
        <p:spPr>
          <a:xfrm>
            <a:off x="6355080" y="1143000"/>
            <a:ext cx="5029200" cy="31089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98448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a:t>
            </a:r>
          </a:p>
        </p:txBody>
      </p:sp>
      <p:sp>
        <p:nvSpPr>
          <p:cNvPr id="73" name="TextBox 72"/>
          <p:cNvSpPr txBox="1"/>
          <p:nvPr/>
        </p:nvSpPr>
        <p:spPr>
          <a:xfrm>
            <a:off x="1330452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Ticker</a:t>
            </a:r>
          </a:p>
        </p:txBody>
      </p:sp>
      <p:sp>
        <p:nvSpPr>
          <p:cNvPr id="74" name="TextBox 73"/>
          <p:cNvSpPr txBox="1"/>
          <p:nvPr/>
        </p:nvSpPr>
        <p:spPr>
          <a:xfrm>
            <a:off x="1421892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Group</a:t>
            </a:r>
          </a:p>
        </p:txBody>
      </p:sp>
      <p:sp>
        <p:nvSpPr>
          <p:cNvPr id="75" name="TextBox 74"/>
          <p:cNvSpPr txBox="1"/>
          <p:nvPr/>
        </p:nvSpPr>
        <p:spPr>
          <a:xfrm>
            <a:off x="1563624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Cons.</a:t>
            </a:r>
          </a:p>
        </p:txBody>
      </p:sp>
      <p:sp>
        <p:nvSpPr>
          <p:cNvPr id="76" name="TextBox 75"/>
          <p:cNvSpPr txBox="1"/>
          <p:nvPr/>
        </p:nvSpPr>
        <p:spPr>
          <a:xfrm>
            <a:off x="1636776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Places</a:t>
            </a:r>
          </a:p>
        </p:txBody>
      </p:sp>
      <p:sp>
        <p:nvSpPr>
          <p:cNvPr id="77" name="TextBox 76"/>
          <p:cNvSpPr txBox="1"/>
          <p:nvPr/>
        </p:nvSpPr>
        <p:spPr>
          <a:xfrm>
            <a:off x="1719072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Cov.</a:t>
            </a:r>
          </a:p>
        </p:txBody>
      </p:sp>
      <p:sp>
        <p:nvSpPr>
          <p:cNvPr id="78" name="Rectangle 77"/>
          <p:cNvSpPr/>
          <p:nvPr/>
        </p:nvSpPr>
        <p:spPr>
          <a:xfrm>
            <a:off x="6355080" y="1490472"/>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49224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10</a:t>
            </a:r>
          </a:p>
        </p:txBody>
      </p:sp>
      <p:sp>
        <p:nvSpPr>
          <p:cNvPr id="80" name="TextBox 79"/>
          <p:cNvSpPr txBox="1"/>
          <p:nvPr/>
        </p:nvSpPr>
        <p:spPr>
          <a:xfrm>
            <a:off x="6812280" y="1545336"/>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MPC</a:t>
            </a:r>
          </a:p>
        </p:txBody>
      </p:sp>
      <p:sp>
        <p:nvSpPr>
          <p:cNvPr id="81" name="TextBox 80"/>
          <p:cNvSpPr txBox="1"/>
          <p:nvPr/>
        </p:nvSpPr>
        <p:spPr>
          <a:xfrm>
            <a:off x="7726679"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Refining</a:t>
            </a:r>
          </a:p>
        </p:txBody>
      </p:sp>
      <p:sp>
        <p:nvSpPr>
          <p:cNvPr id="82" name="TextBox 81"/>
          <p:cNvSpPr txBox="1"/>
          <p:nvPr/>
        </p:nvSpPr>
        <p:spPr>
          <a:xfrm>
            <a:off x="9144000" y="1545336"/>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83" name="TextBox 82"/>
          <p:cNvSpPr txBox="1"/>
          <p:nvPr/>
        </p:nvSpPr>
        <p:spPr>
          <a:xfrm>
            <a:off x="987552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9.0</a:t>
            </a:r>
          </a:p>
        </p:txBody>
      </p:sp>
      <p:sp>
        <p:nvSpPr>
          <p:cNvPr id="84" name="TextBox 83"/>
          <p:cNvSpPr txBox="1"/>
          <p:nvPr/>
        </p:nvSpPr>
        <p:spPr>
          <a:xfrm>
            <a:off x="1069848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79%</a:t>
            </a:r>
          </a:p>
        </p:txBody>
      </p:sp>
      <p:sp>
        <p:nvSpPr>
          <p:cNvPr id="85" name="TextBox 84"/>
          <p:cNvSpPr txBox="1"/>
          <p:nvPr/>
        </p:nvSpPr>
        <p:spPr>
          <a:xfrm>
            <a:off x="649224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11</a:t>
            </a:r>
          </a:p>
        </p:txBody>
      </p:sp>
      <p:sp>
        <p:nvSpPr>
          <p:cNvPr id="86" name="TextBox 85"/>
          <p:cNvSpPr txBox="1"/>
          <p:nvPr/>
        </p:nvSpPr>
        <p:spPr>
          <a:xfrm>
            <a:off x="6812280" y="187451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PSX</a:t>
            </a:r>
          </a:p>
        </p:txBody>
      </p:sp>
      <p:sp>
        <p:nvSpPr>
          <p:cNvPr id="87" name="TextBox 86"/>
          <p:cNvSpPr txBox="1"/>
          <p:nvPr/>
        </p:nvSpPr>
        <p:spPr>
          <a:xfrm>
            <a:off x="7726679"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Refining</a:t>
            </a:r>
          </a:p>
        </p:txBody>
      </p:sp>
      <p:sp>
        <p:nvSpPr>
          <p:cNvPr id="88" name="TextBox 87"/>
          <p:cNvSpPr txBox="1"/>
          <p:nvPr/>
        </p:nvSpPr>
        <p:spPr>
          <a:xfrm>
            <a:off x="9144000" y="187451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89" name="TextBox 88"/>
          <p:cNvSpPr txBox="1"/>
          <p:nvPr/>
        </p:nvSpPr>
        <p:spPr>
          <a:xfrm>
            <a:off x="987552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8.0</a:t>
            </a:r>
          </a:p>
        </p:txBody>
      </p:sp>
      <p:sp>
        <p:nvSpPr>
          <p:cNvPr id="90" name="TextBox 89"/>
          <p:cNvSpPr txBox="1"/>
          <p:nvPr/>
        </p:nvSpPr>
        <p:spPr>
          <a:xfrm>
            <a:off x="1069848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77%</a:t>
            </a:r>
          </a:p>
        </p:txBody>
      </p:sp>
      <p:sp>
        <p:nvSpPr>
          <p:cNvPr id="91" name="Rectangle 90"/>
          <p:cNvSpPr/>
          <p:nvPr/>
        </p:nvSpPr>
        <p:spPr>
          <a:xfrm>
            <a:off x="6355080" y="2148839"/>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49224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12</a:t>
            </a:r>
          </a:p>
        </p:txBody>
      </p:sp>
      <p:sp>
        <p:nvSpPr>
          <p:cNvPr id="93" name="TextBox 92"/>
          <p:cNvSpPr txBox="1"/>
          <p:nvPr/>
        </p:nvSpPr>
        <p:spPr>
          <a:xfrm>
            <a:off x="6812280" y="220370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TRGP</a:t>
            </a:r>
          </a:p>
        </p:txBody>
      </p:sp>
      <p:sp>
        <p:nvSpPr>
          <p:cNvPr id="94" name="TextBox 93"/>
          <p:cNvSpPr txBox="1"/>
          <p:nvPr/>
        </p:nvSpPr>
        <p:spPr>
          <a:xfrm>
            <a:off x="7726679"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Midstream</a:t>
            </a:r>
          </a:p>
        </p:txBody>
      </p:sp>
      <p:sp>
        <p:nvSpPr>
          <p:cNvPr id="95" name="TextBox 94"/>
          <p:cNvSpPr txBox="1"/>
          <p:nvPr/>
        </p:nvSpPr>
        <p:spPr>
          <a:xfrm>
            <a:off x="9144000" y="220370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96" name="TextBox 95"/>
          <p:cNvSpPr txBox="1"/>
          <p:nvPr/>
        </p:nvSpPr>
        <p:spPr>
          <a:xfrm>
            <a:off x="987552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9.0</a:t>
            </a:r>
          </a:p>
        </p:txBody>
      </p:sp>
      <p:sp>
        <p:nvSpPr>
          <p:cNvPr id="97" name="TextBox 96"/>
          <p:cNvSpPr txBox="1"/>
          <p:nvPr/>
        </p:nvSpPr>
        <p:spPr>
          <a:xfrm>
            <a:off x="1069848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74%</a:t>
            </a:r>
          </a:p>
        </p:txBody>
      </p:sp>
      <p:sp>
        <p:nvSpPr>
          <p:cNvPr id="98" name="TextBox 97"/>
          <p:cNvSpPr txBox="1"/>
          <p:nvPr/>
        </p:nvSpPr>
        <p:spPr>
          <a:xfrm>
            <a:off x="649224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13</a:t>
            </a:r>
          </a:p>
        </p:txBody>
      </p:sp>
      <p:sp>
        <p:nvSpPr>
          <p:cNvPr id="99" name="TextBox 98"/>
          <p:cNvSpPr txBox="1"/>
          <p:nvPr/>
        </p:nvSpPr>
        <p:spPr>
          <a:xfrm>
            <a:off x="6812280" y="253288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WMB</a:t>
            </a:r>
          </a:p>
        </p:txBody>
      </p:sp>
      <p:sp>
        <p:nvSpPr>
          <p:cNvPr id="100" name="TextBox 99"/>
          <p:cNvSpPr txBox="1"/>
          <p:nvPr/>
        </p:nvSpPr>
        <p:spPr>
          <a:xfrm>
            <a:off x="7726679"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Midstream</a:t>
            </a:r>
          </a:p>
        </p:txBody>
      </p:sp>
      <p:sp>
        <p:nvSpPr>
          <p:cNvPr id="101" name="TextBox 100"/>
          <p:cNvSpPr txBox="1"/>
          <p:nvPr/>
        </p:nvSpPr>
        <p:spPr>
          <a:xfrm>
            <a:off x="9144000" y="253288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102" name="TextBox 101"/>
          <p:cNvSpPr txBox="1"/>
          <p:nvPr/>
        </p:nvSpPr>
        <p:spPr>
          <a:xfrm>
            <a:off x="987552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11.0</a:t>
            </a:r>
          </a:p>
        </p:txBody>
      </p:sp>
      <p:sp>
        <p:nvSpPr>
          <p:cNvPr id="103" name="TextBox 102"/>
          <p:cNvSpPr txBox="1"/>
          <p:nvPr/>
        </p:nvSpPr>
        <p:spPr>
          <a:xfrm>
            <a:off x="1069848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75%</a:t>
            </a:r>
          </a:p>
        </p:txBody>
      </p:sp>
      <p:sp>
        <p:nvSpPr>
          <p:cNvPr id="104" name="Rectangle 103"/>
          <p:cNvSpPr/>
          <p:nvPr/>
        </p:nvSpPr>
        <p:spPr>
          <a:xfrm>
            <a:off x="6355080" y="2807207"/>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49224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14</a:t>
            </a:r>
          </a:p>
        </p:txBody>
      </p:sp>
      <p:sp>
        <p:nvSpPr>
          <p:cNvPr id="106" name="TextBox 105"/>
          <p:cNvSpPr txBox="1"/>
          <p:nvPr/>
        </p:nvSpPr>
        <p:spPr>
          <a:xfrm>
            <a:off x="6812280" y="2862071"/>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KMI</a:t>
            </a:r>
          </a:p>
        </p:txBody>
      </p:sp>
      <p:sp>
        <p:nvSpPr>
          <p:cNvPr id="107" name="TextBox 106"/>
          <p:cNvSpPr txBox="1"/>
          <p:nvPr/>
        </p:nvSpPr>
        <p:spPr>
          <a:xfrm>
            <a:off x="7726679"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Midstream</a:t>
            </a:r>
          </a:p>
        </p:txBody>
      </p:sp>
      <p:sp>
        <p:nvSpPr>
          <p:cNvPr id="108" name="TextBox 107"/>
          <p:cNvSpPr txBox="1"/>
          <p:nvPr/>
        </p:nvSpPr>
        <p:spPr>
          <a:xfrm>
            <a:off x="9144000" y="2862071"/>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109" name="TextBox 108"/>
          <p:cNvSpPr txBox="1"/>
          <p:nvPr/>
        </p:nvSpPr>
        <p:spPr>
          <a:xfrm>
            <a:off x="987552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7.0</a:t>
            </a:r>
          </a:p>
        </p:txBody>
      </p:sp>
      <p:sp>
        <p:nvSpPr>
          <p:cNvPr id="110" name="TextBox 109"/>
          <p:cNvSpPr txBox="1"/>
          <p:nvPr/>
        </p:nvSpPr>
        <p:spPr>
          <a:xfrm>
            <a:off x="1069848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76%</a:t>
            </a:r>
          </a:p>
        </p:txBody>
      </p:sp>
      <p:sp>
        <p:nvSpPr>
          <p:cNvPr id="111" name="TextBox 110"/>
          <p:cNvSpPr txBox="1"/>
          <p:nvPr/>
        </p:nvSpPr>
        <p:spPr>
          <a:xfrm>
            <a:off x="649224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15</a:t>
            </a:r>
          </a:p>
        </p:txBody>
      </p:sp>
      <p:sp>
        <p:nvSpPr>
          <p:cNvPr id="112" name="TextBox 111"/>
          <p:cNvSpPr txBox="1"/>
          <p:nvPr/>
        </p:nvSpPr>
        <p:spPr>
          <a:xfrm>
            <a:off x="6812280" y="3191255"/>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DVN</a:t>
            </a:r>
          </a:p>
        </p:txBody>
      </p:sp>
      <p:sp>
        <p:nvSpPr>
          <p:cNvPr id="113" name="TextBox 112"/>
          <p:cNvSpPr txBox="1"/>
          <p:nvPr/>
        </p:nvSpPr>
        <p:spPr>
          <a:xfrm>
            <a:off x="7726679"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114" name="TextBox 113"/>
          <p:cNvSpPr txBox="1"/>
          <p:nvPr/>
        </p:nvSpPr>
        <p:spPr>
          <a:xfrm>
            <a:off x="9144000" y="3191255"/>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35</a:t>
            </a:r>
          </a:p>
        </p:txBody>
      </p:sp>
      <p:sp>
        <p:nvSpPr>
          <p:cNvPr id="115" name="TextBox 114"/>
          <p:cNvSpPr txBox="1"/>
          <p:nvPr/>
        </p:nvSpPr>
        <p:spPr>
          <a:xfrm>
            <a:off x="987552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116" name="TextBox 115"/>
          <p:cNvSpPr txBox="1"/>
          <p:nvPr/>
        </p:nvSpPr>
        <p:spPr>
          <a:xfrm>
            <a:off x="1069848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89%</a:t>
            </a:r>
          </a:p>
        </p:txBody>
      </p:sp>
      <p:sp>
        <p:nvSpPr>
          <p:cNvPr id="117" name="Rectangle 116"/>
          <p:cNvSpPr/>
          <p:nvPr/>
        </p:nvSpPr>
        <p:spPr>
          <a:xfrm>
            <a:off x="6355080" y="3465575"/>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649224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16</a:t>
            </a:r>
          </a:p>
        </p:txBody>
      </p:sp>
      <p:sp>
        <p:nvSpPr>
          <p:cNvPr id="119" name="TextBox 118"/>
          <p:cNvSpPr txBox="1"/>
          <p:nvPr/>
        </p:nvSpPr>
        <p:spPr>
          <a:xfrm>
            <a:off x="6812280" y="352043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CVX</a:t>
            </a:r>
          </a:p>
        </p:txBody>
      </p:sp>
      <p:sp>
        <p:nvSpPr>
          <p:cNvPr id="120" name="TextBox 119"/>
          <p:cNvSpPr txBox="1"/>
          <p:nvPr/>
        </p:nvSpPr>
        <p:spPr>
          <a:xfrm>
            <a:off x="7726679"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Integrated</a:t>
            </a:r>
          </a:p>
        </p:txBody>
      </p:sp>
      <p:sp>
        <p:nvSpPr>
          <p:cNvPr id="121" name="TextBox 120"/>
          <p:cNvSpPr txBox="1"/>
          <p:nvPr/>
        </p:nvSpPr>
        <p:spPr>
          <a:xfrm>
            <a:off x="9144000" y="352043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35</a:t>
            </a:r>
          </a:p>
        </p:txBody>
      </p:sp>
      <p:sp>
        <p:nvSpPr>
          <p:cNvPr id="122" name="TextBox 121"/>
          <p:cNvSpPr txBox="1"/>
          <p:nvPr/>
        </p:nvSpPr>
        <p:spPr>
          <a:xfrm>
            <a:off x="987552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123" name="TextBox 122"/>
          <p:cNvSpPr txBox="1"/>
          <p:nvPr/>
        </p:nvSpPr>
        <p:spPr>
          <a:xfrm>
            <a:off x="1069848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97%</a:t>
            </a:r>
          </a:p>
        </p:txBody>
      </p:sp>
      <p:sp>
        <p:nvSpPr>
          <p:cNvPr id="124" name="TextBox 123"/>
          <p:cNvSpPr txBox="1"/>
          <p:nvPr/>
        </p:nvSpPr>
        <p:spPr>
          <a:xfrm>
            <a:off x="649224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17</a:t>
            </a:r>
          </a:p>
        </p:txBody>
      </p:sp>
      <p:sp>
        <p:nvSpPr>
          <p:cNvPr id="125" name="TextBox 124"/>
          <p:cNvSpPr txBox="1"/>
          <p:nvPr/>
        </p:nvSpPr>
        <p:spPr>
          <a:xfrm>
            <a:off x="6812280" y="384962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HAL</a:t>
            </a:r>
          </a:p>
        </p:txBody>
      </p:sp>
      <p:sp>
        <p:nvSpPr>
          <p:cNvPr id="126" name="TextBox 125"/>
          <p:cNvSpPr txBox="1"/>
          <p:nvPr/>
        </p:nvSpPr>
        <p:spPr>
          <a:xfrm>
            <a:off x="7726679"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Services</a:t>
            </a:r>
          </a:p>
        </p:txBody>
      </p:sp>
      <p:sp>
        <p:nvSpPr>
          <p:cNvPr id="127" name="TextBox 126"/>
          <p:cNvSpPr txBox="1"/>
          <p:nvPr/>
        </p:nvSpPr>
        <p:spPr>
          <a:xfrm>
            <a:off x="9144000" y="384962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18</a:t>
            </a:r>
          </a:p>
        </p:txBody>
      </p:sp>
      <p:sp>
        <p:nvSpPr>
          <p:cNvPr id="128" name="TextBox 127"/>
          <p:cNvSpPr txBox="1"/>
          <p:nvPr/>
        </p:nvSpPr>
        <p:spPr>
          <a:xfrm>
            <a:off x="987552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7.0</a:t>
            </a:r>
          </a:p>
        </p:txBody>
      </p:sp>
      <p:sp>
        <p:nvSpPr>
          <p:cNvPr id="129" name="TextBox 128"/>
          <p:cNvSpPr txBox="1"/>
          <p:nvPr/>
        </p:nvSpPr>
        <p:spPr>
          <a:xfrm>
            <a:off x="1069848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78%</a:t>
            </a:r>
          </a:p>
        </p:txBody>
      </p:sp>
      <p:sp>
        <p:nvSpPr>
          <p:cNvPr id="130" name="Rectangle 129"/>
          <p:cNvSpPr/>
          <p:nvPr/>
        </p:nvSpPr>
        <p:spPr>
          <a:xfrm>
            <a:off x="6355080" y="4123944"/>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49224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18</a:t>
            </a:r>
          </a:p>
        </p:txBody>
      </p:sp>
      <p:sp>
        <p:nvSpPr>
          <p:cNvPr id="132" name="TextBox 131"/>
          <p:cNvSpPr txBox="1"/>
          <p:nvPr/>
        </p:nvSpPr>
        <p:spPr>
          <a:xfrm>
            <a:off x="6812280" y="417880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FANG</a:t>
            </a:r>
          </a:p>
        </p:txBody>
      </p:sp>
      <p:sp>
        <p:nvSpPr>
          <p:cNvPr id="133" name="TextBox 132"/>
          <p:cNvSpPr txBox="1"/>
          <p:nvPr/>
        </p:nvSpPr>
        <p:spPr>
          <a:xfrm>
            <a:off x="7726679"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134" name="TextBox 133"/>
          <p:cNvSpPr txBox="1"/>
          <p:nvPr/>
        </p:nvSpPr>
        <p:spPr>
          <a:xfrm>
            <a:off x="9144000" y="417880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18</a:t>
            </a:r>
          </a:p>
        </p:txBody>
      </p:sp>
      <p:sp>
        <p:nvSpPr>
          <p:cNvPr id="135" name="TextBox 134"/>
          <p:cNvSpPr txBox="1"/>
          <p:nvPr/>
        </p:nvSpPr>
        <p:spPr>
          <a:xfrm>
            <a:off x="987552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4.0</a:t>
            </a:r>
          </a:p>
        </p:txBody>
      </p:sp>
      <p:sp>
        <p:nvSpPr>
          <p:cNvPr id="136" name="TextBox 135"/>
          <p:cNvSpPr txBox="1"/>
          <p:nvPr/>
        </p:nvSpPr>
        <p:spPr>
          <a:xfrm>
            <a:off x="1069848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91%</a:t>
            </a:r>
          </a:p>
        </p:txBody>
      </p:sp>
      <p:sp>
        <p:nvSpPr>
          <p:cNvPr id="137" name="TextBox 136"/>
          <p:cNvSpPr txBox="1"/>
          <p:nvPr/>
        </p:nvSpPr>
        <p:spPr>
          <a:xfrm>
            <a:off x="777240" y="6309360"/>
            <a:ext cx="10607040" cy="457200"/>
          </a:xfrm>
          <a:prstGeom prst="rect">
            <a:avLst/>
          </a:prstGeom>
          <a:noFill/>
        </p:spPr>
        <p:txBody>
          <a:bodyPr wrap="square" anchor="t" lIns="0" rIns="0" tIns="0" bIns="0">
            <a:spAutoFit/>
          </a:bodyPr>
          <a:lstStyle/>
          <a:p>
            <a:pPr algn="l">
              <a:lnSpc>
                <a:spcPct val="100000"/>
              </a:lnSpc>
              <a:spcAft>
                <a:spcPts val="600"/>
              </a:spcAft>
            </a:pPr>
            <a:r>
              <a:rPr sz="1100" b="0">
                <a:solidFill>
                  <a:srgbClr val="6B6A63"/>
                </a:solidFill>
                <a:latin typeface="Calibri"/>
              </a:rPr>
              <a:t>Consensus is the median rank percentile. Places is the interquartile width in rank positions out of 18. Full audit trail, one row per company per specification, is in the repo.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A6</a:t>
            </a:r>
            <a:r>
              <a:rPr sz="1900" b="1">
                <a:solidFill>
                  <a:srgbClr val="101010"/>
                </a:solidFill>
                <a:latin typeface="Calibri"/>
              </a:rPr>
              <a:t>     Where the disagreement lives</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3_variance.png"/>
          <p:cNvPicPr>
            <a:picLocks noChangeAspect="1"/>
          </p:cNvPicPr>
          <p:nvPr/>
        </p:nvPicPr>
        <p:blipFill>
          <a:blip r:embed="rId2"/>
          <a:stretch>
            <a:fillRect/>
          </a:stretch>
        </p:blipFill>
        <p:spPr>
          <a:xfrm>
            <a:off x="777240" y="1143000"/>
            <a:ext cx="6583680" cy="2468880"/>
          </a:xfrm>
          <a:prstGeom prst="rect">
            <a:avLst/>
          </a:prstGeom>
        </p:spPr>
      </p:pic>
      <p:sp>
        <p:nvSpPr>
          <p:cNvPr id="6" name="Rectangle 5"/>
          <p:cNvSpPr/>
          <p:nvPr/>
        </p:nvSpPr>
        <p:spPr>
          <a:xfrm>
            <a:off x="7680960" y="1143000"/>
            <a:ext cx="3703320" cy="42062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79" y="1371600"/>
            <a:ext cx="3200400" cy="3749039"/>
          </a:xfrm>
          <a:prstGeom prst="rect">
            <a:avLst/>
          </a:prstGeom>
          <a:noFill/>
        </p:spPr>
        <p:txBody>
          <a:bodyPr wrap="square" anchor="t" lIns="0" rIns="0" tIns="0" bIns="0">
            <a:spAutoFit/>
          </a:bodyPr>
          <a:lstStyle/>
          <a:p>
            <a:pPr algn="l">
              <a:lnSpc>
                <a:spcPct val="115000"/>
              </a:lnSpc>
              <a:spcAft>
                <a:spcPts val="1000"/>
              </a:spcAft>
            </a:pPr>
            <a:r>
              <a:rPr sz="1800" b="1">
                <a:solidFill>
                  <a:srgbClr val="C04A12"/>
                </a:solidFill>
                <a:latin typeface="Calibri"/>
              </a:rPr>
              <a:t>Main effects 47.8%</a:t>
            </a:r>
          </a:p>
          <a:p>
            <a:pPr algn="l">
              <a:lnSpc>
                <a:spcPct val="115000"/>
              </a:lnSpc>
              <a:spcAft>
                <a:spcPts val="1000"/>
              </a:spcAft>
            </a:pPr>
            <a:r>
              <a:rPr sz="1800" b="1">
                <a:solidFill>
                  <a:srgbClr val="101010"/>
                </a:solidFill>
                <a:latin typeface="Calibri"/>
              </a:rPr>
              <a:t>Interaction 52.2%</a:t>
            </a:r>
          </a:p>
          <a:p>
            <a:pPr algn="l">
              <a:lnSpc>
                <a:spcPct val="115000"/>
              </a:lnSpc>
              <a:spcAft>
                <a:spcPts val="1000"/>
              </a:spcAft>
            </a:pPr>
            <a:r>
              <a:rPr sz="1200" b="0">
                <a:solidFill>
                  <a:srgbClr val="3D3C38"/>
                </a:solidFill>
                <a:latin typeface="Calibri"/>
              </a:rPr>
              <a:t>More than half the variance is choices that only matter in combination. That is why we do not publish a single 'decided by' axis per company: it would be a one-at-a-time reading of a grid that is not one-at-a-time.</a:t>
            </a:r>
          </a:p>
          <a:p>
            <a:pPr algn="l">
              <a:lnSpc>
                <a:spcPct val="115000"/>
              </a:lnSpc>
              <a:spcAft>
                <a:spcPts val="1000"/>
              </a:spcAft>
            </a:pPr>
            <a:r>
              <a:rPr sz="1200" b="0">
                <a:solidFill>
                  <a:srgbClr val="3D3C38"/>
                </a:solidFill>
                <a:latin typeface="Calibri"/>
              </a:rPr>
              <a:t>Two negative results, reported deliberately: the aggregation function is worth 0.3% and the polarity convention 0.5%. We implemented both so we could measure them rather than assume them.</a:t>
            </a:r>
          </a:p>
        </p:txBody>
      </p:sp>
      <p:sp>
        <p:nvSpPr>
          <p:cNvPr id="8" name="TextBox 7"/>
          <p:cNvSpPr txBox="1"/>
          <p:nvPr/>
        </p:nvSpPr>
        <p:spPr>
          <a:xfrm>
            <a:off x="777240" y="5532120"/>
            <a:ext cx="6583680" cy="640080"/>
          </a:xfrm>
          <a:prstGeom prst="rect">
            <a:avLst/>
          </a:prstGeom>
          <a:noFill/>
        </p:spPr>
        <p:txBody>
          <a:bodyPr wrap="square" anchor="t" lIns="0" rIns="0" tIns="0" bIns="0">
            <a:spAutoFit/>
          </a:bodyPr>
          <a:lstStyle/>
          <a:p>
            <a:pPr algn="l">
              <a:lnSpc>
                <a:spcPct val="115000"/>
              </a:lnSpc>
              <a:spcAft>
                <a:spcPts val="600"/>
              </a:spcAft>
            </a:pPr>
            <a:r>
              <a:rPr sz="1300" b="1">
                <a:solidFill>
                  <a:srgbClr val="101010"/>
                </a:solidFill>
                <a:latin typeface="Calibri"/>
              </a:rPr>
              <a:t>The two that matter, direction and peer set, are scope choices: what you ask and who you ask it against. Neither is a weight.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A7</a:t>
            </a:r>
            <a:r>
              <a:rPr sz="1900" b="1">
                <a:solidFill>
                  <a:srgbClr val="101010"/>
                </a:solidFill>
                <a:latin typeface="Calibri"/>
              </a:rPr>
              <a:t>     Contestation survives every deflation</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10607040"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252728"/>
            <a:ext cx="630936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Stratum</a:t>
            </a:r>
          </a:p>
        </p:txBody>
      </p:sp>
      <p:sp>
        <p:nvSpPr>
          <p:cNvPr id="7" name="TextBox 6"/>
          <p:cNvSpPr txBox="1"/>
          <p:nvPr/>
        </p:nvSpPr>
        <p:spPr>
          <a:xfrm>
            <a:off x="7589520" y="1252728"/>
            <a:ext cx="1554480" cy="292608"/>
          </a:xfrm>
          <a:prstGeom prst="rect">
            <a:avLst/>
          </a:prstGeom>
          <a:noFill/>
        </p:spPr>
        <p:txBody>
          <a:bodyPr wrap="square" anchor="t" lIns="0" rIns="0" tIns="0" bIns="0">
            <a:spAutoFit/>
          </a:bodyPr>
          <a:lstStyle/>
          <a:p>
            <a:pPr algn="r">
              <a:lnSpc>
                <a:spcPct val="100000"/>
              </a:lnSpc>
              <a:spcAft>
                <a:spcPts val="600"/>
              </a:spcAft>
            </a:pPr>
            <a:r>
              <a:rPr sz="1200" b="1">
                <a:solidFill>
                  <a:srgbClr val="FFFFFF"/>
                </a:solidFill>
                <a:latin typeface="Calibri"/>
              </a:rPr>
              <a:t>Cells</a:t>
            </a:r>
          </a:p>
        </p:txBody>
      </p:sp>
      <p:sp>
        <p:nvSpPr>
          <p:cNvPr id="8" name="TextBox 7"/>
          <p:cNvSpPr txBox="1"/>
          <p:nvPr/>
        </p:nvSpPr>
        <p:spPr>
          <a:xfrm>
            <a:off x="9418320" y="1252728"/>
            <a:ext cx="1828800" cy="292608"/>
          </a:xfrm>
          <a:prstGeom prst="rect">
            <a:avLst/>
          </a:prstGeom>
          <a:noFill/>
        </p:spPr>
        <p:txBody>
          <a:bodyPr wrap="square" anchor="t" lIns="0" rIns="0" tIns="0" bIns="0">
            <a:spAutoFit/>
          </a:bodyPr>
          <a:lstStyle/>
          <a:p>
            <a:pPr algn="r">
              <a:lnSpc>
                <a:spcPct val="100000"/>
              </a:lnSpc>
              <a:spcAft>
                <a:spcPts val="600"/>
              </a:spcAft>
            </a:pPr>
            <a:r>
              <a:rPr sz="1200" b="1">
                <a:solidFill>
                  <a:srgbClr val="FFFFFF"/>
                </a:solidFill>
                <a:latin typeface="Calibri"/>
              </a:rPr>
              <a:t>Places of 18</a:t>
            </a:r>
          </a:p>
        </p:txBody>
      </p:sp>
      <p:sp>
        <p:nvSpPr>
          <p:cNvPr id="9" name="TextBox 8"/>
          <p:cNvSpPr txBox="1"/>
          <p:nvPr/>
        </p:nvSpPr>
        <p:spPr>
          <a:xfrm>
            <a:off x="1051560" y="1645920"/>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Both curves pooled (we do not report this)</a:t>
            </a:r>
          </a:p>
        </p:txBody>
      </p:sp>
      <p:sp>
        <p:nvSpPr>
          <p:cNvPr id="10" name="TextBox 9"/>
          <p:cNvSpPr txBox="1"/>
          <p:nvPr/>
        </p:nvSpPr>
        <p:spPr>
          <a:xfrm>
            <a:off x="7589520" y="1645920"/>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17,496</a:t>
            </a:r>
          </a:p>
        </p:txBody>
      </p:sp>
      <p:sp>
        <p:nvSpPr>
          <p:cNvPr id="11" name="TextBox 10"/>
          <p:cNvSpPr txBox="1"/>
          <p:nvPr/>
        </p:nvSpPr>
        <p:spPr>
          <a:xfrm>
            <a:off x="9418320" y="1645920"/>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7.0</a:t>
            </a:r>
          </a:p>
        </p:txBody>
      </p:sp>
      <p:sp>
        <p:nvSpPr>
          <p:cNvPr id="12" name="Rectangle 11"/>
          <p:cNvSpPr/>
          <p:nvPr/>
        </p:nvSpPr>
        <p:spPr>
          <a:xfrm>
            <a:off x="777240" y="1956816"/>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048256"/>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only (level)</a:t>
            </a:r>
          </a:p>
        </p:txBody>
      </p:sp>
      <p:sp>
        <p:nvSpPr>
          <p:cNvPr id="14" name="TextBox 13"/>
          <p:cNvSpPr txBox="1"/>
          <p:nvPr/>
        </p:nvSpPr>
        <p:spPr>
          <a:xfrm>
            <a:off x="7589520" y="2048256"/>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8,748</a:t>
            </a:r>
          </a:p>
        </p:txBody>
      </p:sp>
      <p:sp>
        <p:nvSpPr>
          <p:cNvPr id="15" name="TextBox 14"/>
          <p:cNvSpPr txBox="1"/>
          <p:nvPr/>
        </p:nvSpPr>
        <p:spPr>
          <a:xfrm>
            <a:off x="9418320" y="2048256"/>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5.0</a:t>
            </a:r>
          </a:p>
        </p:txBody>
      </p:sp>
      <p:sp>
        <p:nvSpPr>
          <p:cNvPr id="16" name="TextBox 15"/>
          <p:cNvSpPr txBox="1"/>
          <p:nvPr/>
        </p:nvSpPr>
        <p:spPr>
          <a:xfrm>
            <a:off x="1051560" y="2450592"/>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majority evidence bar</a:t>
            </a:r>
          </a:p>
        </p:txBody>
      </p:sp>
      <p:sp>
        <p:nvSpPr>
          <p:cNvPr id="17" name="TextBox 16"/>
          <p:cNvSpPr txBox="1"/>
          <p:nvPr/>
        </p:nvSpPr>
        <p:spPr>
          <a:xfrm>
            <a:off x="7589520" y="2450592"/>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2,916</a:t>
            </a:r>
          </a:p>
        </p:txBody>
      </p:sp>
      <p:sp>
        <p:nvSpPr>
          <p:cNvPr id="18" name="TextBox 17"/>
          <p:cNvSpPr txBox="1"/>
          <p:nvPr/>
        </p:nvSpPr>
        <p:spPr>
          <a:xfrm>
            <a:off x="9418320" y="2450592"/>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6.0</a:t>
            </a:r>
          </a:p>
        </p:txBody>
      </p:sp>
      <p:sp>
        <p:nvSpPr>
          <p:cNvPr id="19" name="Rectangle 18"/>
          <p:cNvSpPr/>
          <p:nvPr/>
        </p:nvSpPr>
        <p:spPr>
          <a:xfrm>
            <a:off x="777240" y="2761488"/>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2852928"/>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majority × no worst-case</a:t>
            </a:r>
          </a:p>
        </p:txBody>
      </p:sp>
      <p:sp>
        <p:nvSpPr>
          <p:cNvPr id="21" name="TextBox 20"/>
          <p:cNvSpPr txBox="1"/>
          <p:nvPr/>
        </p:nvSpPr>
        <p:spPr>
          <a:xfrm>
            <a:off x="7589520" y="2852928"/>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1,944</a:t>
            </a:r>
          </a:p>
        </p:txBody>
      </p:sp>
      <p:sp>
        <p:nvSpPr>
          <p:cNvPr id="22" name="TextBox 21"/>
          <p:cNvSpPr txBox="1"/>
          <p:nvPr/>
        </p:nvSpPr>
        <p:spPr>
          <a:xfrm>
            <a:off x="9418320" y="2852928"/>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5.5</a:t>
            </a:r>
          </a:p>
        </p:txBody>
      </p:sp>
      <p:sp>
        <p:nvSpPr>
          <p:cNvPr id="23" name="TextBox 22"/>
          <p:cNvSpPr txBox="1"/>
          <p:nvPr/>
        </p:nvSpPr>
        <p:spPr>
          <a:xfrm>
            <a:off x="1051560" y="3255264"/>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majority × sector peers</a:t>
            </a:r>
          </a:p>
        </p:txBody>
      </p:sp>
      <p:sp>
        <p:nvSpPr>
          <p:cNvPr id="24" name="TextBox 23"/>
          <p:cNvSpPr txBox="1"/>
          <p:nvPr/>
        </p:nvSpPr>
        <p:spPr>
          <a:xfrm>
            <a:off x="7589520" y="3255264"/>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972</a:t>
            </a:r>
          </a:p>
        </p:txBody>
      </p:sp>
      <p:sp>
        <p:nvSpPr>
          <p:cNvPr id="25" name="TextBox 24"/>
          <p:cNvSpPr txBox="1"/>
          <p:nvPr/>
        </p:nvSpPr>
        <p:spPr>
          <a:xfrm>
            <a:off x="9418320" y="3255264"/>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4.0</a:t>
            </a:r>
          </a:p>
        </p:txBody>
      </p:sp>
      <p:sp>
        <p:nvSpPr>
          <p:cNvPr id="26" name="Rectangle 25"/>
          <p:cNvSpPr/>
          <p:nvPr/>
        </p:nvSpPr>
        <p:spPr>
          <a:xfrm>
            <a:off x="777240" y="3566160"/>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3657600"/>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majority × no worst-case × sector</a:t>
            </a:r>
          </a:p>
        </p:txBody>
      </p:sp>
      <p:sp>
        <p:nvSpPr>
          <p:cNvPr id="28" name="TextBox 27"/>
          <p:cNvSpPr txBox="1"/>
          <p:nvPr/>
        </p:nvSpPr>
        <p:spPr>
          <a:xfrm>
            <a:off x="7589520" y="3657600"/>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648</a:t>
            </a:r>
          </a:p>
        </p:txBody>
      </p:sp>
      <p:sp>
        <p:nvSpPr>
          <p:cNvPr id="29" name="TextBox 28"/>
          <p:cNvSpPr txBox="1"/>
          <p:nvPr/>
        </p:nvSpPr>
        <p:spPr>
          <a:xfrm>
            <a:off x="9418320" y="3657600"/>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3.6</a:t>
            </a:r>
          </a:p>
        </p:txBody>
      </p:sp>
      <p:sp>
        <p:nvSpPr>
          <p:cNvPr id="30" name="TextBox 29"/>
          <p:cNvSpPr txBox="1"/>
          <p:nvPr/>
        </p:nvSpPr>
        <p:spPr>
          <a:xfrm>
            <a:off x="1051560" y="4059935"/>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BECS peer groups</a:t>
            </a:r>
          </a:p>
        </p:txBody>
      </p:sp>
      <p:sp>
        <p:nvSpPr>
          <p:cNvPr id="31" name="TextBox 30"/>
          <p:cNvSpPr txBox="1"/>
          <p:nvPr/>
        </p:nvSpPr>
        <p:spPr>
          <a:xfrm>
            <a:off x="7589520" y="4059935"/>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2,916</a:t>
            </a:r>
          </a:p>
        </p:txBody>
      </p:sp>
      <p:sp>
        <p:nvSpPr>
          <p:cNvPr id="32" name="TextBox 31"/>
          <p:cNvSpPr txBox="1"/>
          <p:nvPr/>
        </p:nvSpPr>
        <p:spPr>
          <a:xfrm>
            <a:off x="9418320" y="4059935"/>
            <a:ext cx="1828800" cy="292608"/>
          </a:xfrm>
          <a:prstGeom prst="rect">
            <a:avLst/>
          </a:prstGeom>
          <a:noFill/>
        </p:spPr>
        <p:txBody>
          <a:bodyPr wrap="square" anchor="t" lIns="0" rIns="0" tIns="0" bIns="0">
            <a:spAutoFit/>
          </a:bodyPr>
          <a:lstStyle/>
          <a:p>
            <a:pPr algn="r">
              <a:lnSpc>
                <a:spcPct val="100000"/>
              </a:lnSpc>
              <a:spcAft>
                <a:spcPts val="600"/>
              </a:spcAft>
            </a:pPr>
            <a:r>
              <a:rPr sz="1200" b="1">
                <a:solidFill>
                  <a:srgbClr val="C04A12"/>
                </a:solidFill>
                <a:latin typeface="Calibri"/>
              </a:rPr>
              <a:t>3.0</a:t>
            </a:r>
          </a:p>
        </p:txBody>
      </p:sp>
      <p:sp>
        <p:nvSpPr>
          <p:cNvPr id="33" name="Rectangle 32"/>
          <p:cNvSpPr/>
          <p:nvPr/>
        </p:nvSpPr>
        <p:spPr>
          <a:xfrm>
            <a:off x="777240" y="4370832"/>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4462272"/>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6B6A63"/>
                </a:solidFill>
                <a:latin typeface="Calibri"/>
              </a:rPr>
              <a:t>Random-rank control</a:t>
            </a:r>
          </a:p>
        </p:txBody>
      </p:sp>
      <p:sp>
        <p:nvSpPr>
          <p:cNvPr id="35" name="TextBox 34"/>
          <p:cNvSpPr txBox="1"/>
          <p:nvPr/>
        </p:nvSpPr>
        <p:spPr>
          <a:xfrm>
            <a:off x="7589520" y="4462272"/>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6B6A63"/>
                </a:solidFill>
                <a:latin typeface="Calibri"/>
              </a:rPr>
              <a:t/>
            </a:r>
          </a:p>
        </p:txBody>
      </p:sp>
      <p:sp>
        <p:nvSpPr>
          <p:cNvPr id="36" name="TextBox 35"/>
          <p:cNvSpPr txBox="1"/>
          <p:nvPr/>
        </p:nvSpPr>
        <p:spPr>
          <a:xfrm>
            <a:off x="9418320" y="4462272"/>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6B6A63"/>
                </a:solidFill>
                <a:latin typeface="Calibri"/>
              </a:rPr>
              <a:t>8.5 to 9.0</a:t>
            </a:r>
          </a:p>
        </p:txBody>
      </p:sp>
      <p:sp>
        <p:nvSpPr>
          <p:cNvPr id="37" name="Rectangle 36"/>
          <p:cNvSpPr/>
          <p:nvPr/>
        </p:nvSpPr>
        <p:spPr>
          <a:xfrm>
            <a:off x="777240" y="5120640"/>
            <a:ext cx="10607040" cy="1143000"/>
          </a:xfrm>
          <a:prstGeom prst="rect">
            <a:avLst/>
          </a:prstGeom>
          <a:noFill/>
          <a:ln w="3175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349240"/>
            <a:ext cx="10058400" cy="731520"/>
          </a:xfrm>
          <a:prstGeom prst="rect">
            <a:avLst/>
          </a:prstGeom>
          <a:noFill/>
        </p:spPr>
        <p:txBody>
          <a:bodyPr wrap="square" anchor="t" lIns="0" rIns="0" tIns="0" bIns="0">
            <a:spAutoFit/>
          </a:bodyPr>
          <a:lstStyle/>
          <a:p>
            <a:pPr algn="l">
              <a:lnSpc>
                <a:spcPct val="115000"/>
              </a:lnSpc>
              <a:spcAft>
                <a:spcPts val="600"/>
              </a:spcAft>
            </a:pPr>
            <a:r>
              <a:rPr sz="1500" b="0">
                <a:solidFill>
                  <a:srgbClr val="101010"/>
                </a:solidFill>
                <a:latin typeface="Calibri"/>
              </a:rPr>
              <a:t>A randomly ordered company would show 8.5 to 9.0 places. </a:t>
            </a:r>
            <a:r>
              <a:rPr sz="1500" b="1">
                <a:solidFill>
                  <a:srgbClr val="101010"/>
                </a:solidFill>
                <a:latin typeface="Calibri"/>
              </a:rPr>
              <a:t>Pooled we would read 7.0, barely below noise, which is why we do not pool. Curve A at 3.0 is well inside the control.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A8</a:t>
            </a:r>
            <a:r>
              <a:rPr sz="1900" b="1">
                <a:solidFill>
                  <a:srgbClr val="101010"/>
                </a:solidFill>
                <a:latin typeface="Calibri"/>
              </a:rPr>
              <a:t>     What is settled, and how it depends on the threshold</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6766560"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271016"/>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Threshold</a:t>
            </a:r>
          </a:p>
        </p:txBody>
      </p:sp>
      <p:sp>
        <p:nvSpPr>
          <p:cNvPr id="7" name="TextBox 6"/>
          <p:cNvSpPr txBox="1"/>
          <p:nvPr/>
        </p:nvSpPr>
        <p:spPr>
          <a:xfrm>
            <a:off x="3840480" y="1271016"/>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Settled pairs</a:t>
            </a:r>
          </a:p>
        </p:txBody>
      </p:sp>
      <p:sp>
        <p:nvSpPr>
          <p:cNvPr id="8" name="TextBox 7"/>
          <p:cNvSpPr txBox="1"/>
          <p:nvPr/>
        </p:nvSpPr>
        <p:spPr>
          <a:xfrm>
            <a:off x="5394960" y="1271016"/>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of 153</a:t>
            </a:r>
          </a:p>
        </p:txBody>
      </p:sp>
      <p:sp>
        <p:nvSpPr>
          <p:cNvPr id="9" name="TextBox 8"/>
          <p:cNvSpPr txBox="1"/>
          <p:nvPr/>
        </p:nvSpPr>
        <p:spPr>
          <a:xfrm>
            <a:off x="6492240" y="1271016"/>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Share</a:t>
            </a:r>
          </a:p>
        </p:txBody>
      </p:sp>
      <p:sp>
        <p:nvSpPr>
          <p:cNvPr id="10" name="TextBox 9"/>
          <p:cNvSpPr txBox="1"/>
          <p:nvPr/>
        </p:nvSpPr>
        <p:spPr>
          <a:xfrm>
            <a:off x="1051560" y="163677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0.999</a:t>
            </a:r>
          </a:p>
        </p:txBody>
      </p:sp>
      <p:sp>
        <p:nvSpPr>
          <p:cNvPr id="11" name="TextBox 10"/>
          <p:cNvSpPr txBox="1"/>
          <p:nvPr/>
        </p:nvSpPr>
        <p:spPr>
          <a:xfrm>
            <a:off x="3840480" y="163677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7</a:t>
            </a:r>
          </a:p>
        </p:txBody>
      </p:sp>
      <p:sp>
        <p:nvSpPr>
          <p:cNvPr id="12" name="TextBox 11"/>
          <p:cNvSpPr txBox="1"/>
          <p:nvPr/>
        </p:nvSpPr>
        <p:spPr>
          <a:xfrm>
            <a:off x="5394960" y="163677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13" name="TextBox 12"/>
          <p:cNvSpPr txBox="1"/>
          <p:nvPr/>
        </p:nvSpPr>
        <p:spPr>
          <a:xfrm>
            <a:off x="6492240" y="163677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5%</a:t>
            </a:r>
          </a:p>
        </p:txBody>
      </p:sp>
      <p:sp>
        <p:nvSpPr>
          <p:cNvPr id="14" name="TextBox 13"/>
          <p:cNvSpPr txBox="1"/>
          <p:nvPr/>
        </p:nvSpPr>
        <p:spPr>
          <a:xfrm>
            <a:off x="1051560" y="2057400"/>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0.99</a:t>
            </a:r>
          </a:p>
        </p:txBody>
      </p:sp>
      <p:sp>
        <p:nvSpPr>
          <p:cNvPr id="15" name="TextBox 14"/>
          <p:cNvSpPr txBox="1"/>
          <p:nvPr/>
        </p:nvSpPr>
        <p:spPr>
          <a:xfrm>
            <a:off x="3840480" y="2057400"/>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12</a:t>
            </a:r>
          </a:p>
        </p:txBody>
      </p:sp>
      <p:sp>
        <p:nvSpPr>
          <p:cNvPr id="16" name="TextBox 15"/>
          <p:cNvSpPr txBox="1"/>
          <p:nvPr/>
        </p:nvSpPr>
        <p:spPr>
          <a:xfrm>
            <a:off x="5394960" y="2057400"/>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17" name="TextBox 16"/>
          <p:cNvSpPr txBox="1"/>
          <p:nvPr/>
        </p:nvSpPr>
        <p:spPr>
          <a:xfrm>
            <a:off x="6492240" y="2057400"/>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8%</a:t>
            </a:r>
          </a:p>
        </p:txBody>
      </p:sp>
      <p:sp>
        <p:nvSpPr>
          <p:cNvPr id="18" name="Rectangle 17"/>
          <p:cNvSpPr/>
          <p:nvPr/>
        </p:nvSpPr>
        <p:spPr>
          <a:xfrm>
            <a:off x="777240" y="2395728"/>
            <a:ext cx="6766560" cy="42062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478024"/>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P &gt; 0.95  (our headline)</a:t>
            </a:r>
          </a:p>
        </p:txBody>
      </p:sp>
      <p:sp>
        <p:nvSpPr>
          <p:cNvPr id="20" name="TextBox 19"/>
          <p:cNvSpPr txBox="1"/>
          <p:nvPr/>
        </p:nvSpPr>
        <p:spPr>
          <a:xfrm>
            <a:off x="3840480" y="2478024"/>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33</a:t>
            </a:r>
          </a:p>
        </p:txBody>
      </p:sp>
      <p:sp>
        <p:nvSpPr>
          <p:cNvPr id="21" name="TextBox 20"/>
          <p:cNvSpPr txBox="1"/>
          <p:nvPr/>
        </p:nvSpPr>
        <p:spPr>
          <a:xfrm>
            <a:off x="5394960" y="2478024"/>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153</a:t>
            </a:r>
          </a:p>
        </p:txBody>
      </p:sp>
      <p:sp>
        <p:nvSpPr>
          <p:cNvPr id="22" name="TextBox 21"/>
          <p:cNvSpPr txBox="1"/>
          <p:nvPr/>
        </p:nvSpPr>
        <p:spPr>
          <a:xfrm>
            <a:off x="6492240" y="2478024"/>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22%</a:t>
            </a:r>
          </a:p>
        </p:txBody>
      </p:sp>
      <p:sp>
        <p:nvSpPr>
          <p:cNvPr id="23" name="TextBox 22"/>
          <p:cNvSpPr txBox="1"/>
          <p:nvPr/>
        </p:nvSpPr>
        <p:spPr>
          <a:xfrm>
            <a:off x="1051560" y="2898648"/>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0.90</a:t>
            </a:r>
          </a:p>
        </p:txBody>
      </p:sp>
      <p:sp>
        <p:nvSpPr>
          <p:cNvPr id="24" name="TextBox 23"/>
          <p:cNvSpPr txBox="1"/>
          <p:nvPr/>
        </p:nvSpPr>
        <p:spPr>
          <a:xfrm>
            <a:off x="3840480" y="2898648"/>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51</a:t>
            </a:r>
          </a:p>
        </p:txBody>
      </p:sp>
      <p:sp>
        <p:nvSpPr>
          <p:cNvPr id="25" name="TextBox 24"/>
          <p:cNvSpPr txBox="1"/>
          <p:nvPr/>
        </p:nvSpPr>
        <p:spPr>
          <a:xfrm>
            <a:off x="5394960" y="2898648"/>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26" name="TextBox 25"/>
          <p:cNvSpPr txBox="1"/>
          <p:nvPr/>
        </p:nvSpPr>
        <p:spPr>
          <a:xfrm>
            <a:off x="6492240" y="2898648"/>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33%</a:t>
            </a:r>
          </a:p>
        </p:txBody>
      </p:sp>
      <p:sp>
        <p:nvSpPr>
          <p:cNvPr id="27" name="TextBox 26"/>
          <p:cNvSpPr txBox="1"/>
          <p:nvPr/>
        </p:nvSpPr>
        <p:spPr>
          <a:xfrm>
            <a:off x="1051560" y="3319272"/>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0.85</a:t>
            </a:r>
          </a:p>
        </p:txBody>
      </p:sp>
      <p:sp>
        <p:nvSpPr>
          <p:cNvPr id="28" name="TextBox 27"/>
          <p:cNvSpPr txBox="1"/>
          <p:nvPr/>
        </p:nvSpPr>
        <p:spPr>
          <a:xfrm>
            <a:off x="3840480" y="3319272"/>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68</a:t>
            </a:r>
          </a:p>
        </p:txBody>
      </p:sp>
      <p:sp>
        <p:nvSpPr>
          <p:cNvPr id="29" name="TextBox 28"/>
          <p:cNvSpPr txBox="1"/>
          <p:nvPr/>
        </p:nvSpPr>
        <p:spPr>
          <a:xfrm>
            <a:off x="5394960" y="3319272"/>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30" name="TextBox 29"/>
          <p:cNvSpPr txBox="1"/>
          <p:nvPr/>
        </p:nvSpPr>
        <p:spPr>
          <a:xfrm>
            <a:off x="6492240" y="3319272"/>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44%</a:t>
            </a:r>
          </a:p>
        </p:txBody>
      </p:sp>
      <p:sp>
        <p:nvSpPr>
          <p:cNvPr id="31" name="TextBox 30"/>
          <p:cNvSpPr txBox="1"/>
          <p:nvPr/>
        </p:nvSpPr>
        <p:spPr>
          <a:xfrm>
            <a:off x="1051560" y="373989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0.80</a:t>
            </a:r>
          </a:p>
        </p:txBody>
      </p:sp>
      <p:sp>
        <p:nvSpPr>
          <p:cNvPr id="32" name="TextBox 31"/>
          <p:cNvSpPr txBox="1"/>
          <p:nvPr/>
        </p:nvSpPr>
        <p:spPr>
          <a:xfrm>
            <a:off x="3840480" y="373989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79</a:t>
            </a:r>
          </a:p>
        </p:txBody>
      </p:sp>
      <p:sp>
        <p:nvSpPr>
          <p:cNvPr id="33" name="TextBox 32"/>
          <p:cNvSpPr txBox="1"/>
          <p:nvPr/>
        </p:nvSpPr>
        <p:spPr>
          <a:xfrm>
            <a:off x="5394960" y="373989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34" name="TextBox 33"/>
          <p:cNvSpPr txBox="1"/>
          <p:nvPr/>
        </p:nvSpPr>
        <p:spPr>
          <a:xfrm>
            <a:off x="6492240" y="373989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52%</a:t>
            </a:r>
          </a:p>
        </p:txBody>
      </p:sp>
      <p:sp>
        <p:nvSpPr>
          <p:cNvPr id="35" name="Rectangle 34"/>
          <p:cNvSpPr/>
          <p:nvPr/>
        </p:nvSpPr>
        <p:spPr>
          <a:xfrm>
            <a:off x="7863840" y="1188720"/>
            <a:ext cx="3520440" cy="2834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38160" y="1417320"/>
            <a:ext cx="3017520" cy="2377440"/>
          </a:xfrm>
          <a:prstGeom prst="rect">
            <a:avLst/>
          </a:prstGeom>
          <a:noFill/>
        </p:spPr>
        <p:txBody>
          <a:bodyPr wrap="square" anchor="t" lIns="0" rIns="0" tIns="0" bIns="0">
            <a:spAutoFit/>
          </a:bodyPr>
          <a:lstStyle/>
          <a:p>
            <a:pPr algn="l">
              <a:lnSpc>
                <a:spcPct val="115000"/>
              </a:lnSpc>
              <a:spcAft>
                <a:spcPts val="800"/>
              </a:spcAft>
            </a:pPr>
            <a:r>
              <a:rPr sz="1600" b="1">
                <a:solidFill>
                  <a:srgbClr val="C04A12"/>
                </a:solidFill>
                <a:latin typeface="Calibri"/>
              </a:rPr>
              <a:t>Monotone, no cliff</a:t>
            </a:r>
          </a:p>
          <a:p>
            <a:pPr algn="l">
              <a:lnSpc>
                <a:spcPct val="115000"/>
              </a:lnSpc>
              <a:spcAft>
                <a:spcPts val="800"/>
              </a:spcAft>
            </a:pPr>
            <a:r>
              <a:rPr sz="1200" b="0">
                <a:solidFill>
                  <a:srgbClr val="3D3C38"/>
                </a:solidFill>
                <a:latin typeface="Calibri"/>
              </a:rPr>
              <a:t>The count rises smoothly with the threshold, so our 95% cut-off is not sitting on a discontinuity.</a:t>
            </a:r>
          </a:p>
          <a:p>
            <a:pPr algn="l">
              <a:lnSpc>
                <a:spcPct val="115000"/>
              </a:lnSpc>
              <a:spcAft>
                <a:spcPts val="800"/>
              </a:spcAft>
            </a:pPr>
            <a:r>
              <a:rPr sz="1200" b="0">
                <a:solidFill>
                  <a:srgbClr val="3D3C38"/>
                </a:solidFill>
                <a:latin typeface="Calibri"/>
              </a:rPr>
              <a:t>Note that rank percentile assigns 0 and 100 in every specification by construction, so extreme ranks are structural, not a rare tail.</a:t>
            </a:r>
          </a:p>
        </p:txBody>
      </p:sp>
      <p:sp>
        <p:nvSpPr>
          <p:cNvPr id="37" name="Rectangle 36"/>
          <p:cNvSpPr/>
          <p:nvPr/>
        </p:nvSpPr>
        <p:spPr>
          <a:xfrm>
            <a:off x="777240" y="4434840"/>
            <a:ext cx="10607040" cy="914400"/>
          </a:xfrm>
          <a:prstGeom prst="rect">
            <a:avLst/>
          </a:prstGeom>
          <a:noFill/>
          <a:ln w="3175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4663440"/>
            <a:ext cx="10058400" cy="548640"/>
          </a:xfrm>
          <a:prstGeom prst="rect">
            <a:avLst/>
          </a:prstGeom>
          <a:noFill/>
        </p:spPr>
        <p:txBody>
          <a:bodyPr wrap="square" anchor="t" lIns="0" rIns="0" tIns="0" bIns="0">
            <a:spAutoFit/>
          </a:bodyPr>
          <a:lstStyle/>
          <a:p>
            <a:pPr algn="l">
              <a:lnSpc>
                <a:spcPct val="115000"/>
              </a:lnSpc>
              <a:spcAft>
                <a:spcPts val="600"/>
              </a:spcAft>
            </a:pPr>
            <a:r>
              <a:rPr sz="1500" b="1">
                <a:solidFill>
                  <a:srgbClr val="101010"/>
                </a:solidFill>
                <a:latin typeface="Calibri"/>
              </a:rPr>
              <a:t>At Curve A × strict evidence bar, 56 of 153 settle. </a:t>
            </a:r>
            <a:r>
              <a:rPr sz="1500" b="0">
                <a:solidFill>
                  <a:srgbClr val="101010"/>
                </a:solidFill>
                <a:latin typeface="Calibri"/>
              </a:rPr>
              <a:t>But at that setting Environment has 2 fields and Social none, so it is largely a governance and credit ranking. We label it as such.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A9</a:t>
            </a:r>
            <a:r>
              <a:rPr sz="1900" b="1">
                <a:solidFill>
                  <a:srgbClr val="101010"/>
                </a:solidFill>
                <a:latin typeface="Calibri"/>
              </a:rPr>
              <a:t>     Risk register: four closed by rerunning the pipeline</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43000"/>
            <a:ext cx="10607040" cy="548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289304"/>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C04A12"/>
                </a:solidFill>
                <a:latin typeface="Calibri"/>
              </a:rPr>
              <a:t>CLOSED</a:t>
            </a:r>
          </a:p>
        </p:txBody>
      </p:sp>
      <p:sp>
        <p:nvSpPr>
          <p:cNvPr id="7" name="TextBox 6"/>
          <p:cNvSpPr txBox="1"/>
          <p:nvPr/>
        </p:nvSpPr>
        <p:spPr>
          <a:xfrm>
            <a:off x="2103120" y="1271016"/>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Denominator is EBITDA, not revenue</a:t>
            </a:r>
          </a:p>
        </p:txBody>
      </p:sp>
      <p:sp>
        <p:nvSpPr>
          <p:cNvPr id="8" name="TextBox 7"/>
          <p:cNvSpPr txBox="1"/>
          <p:nvPr/>
        </p:nvSpPr>
        <p:spPr>
          <a:xfrm>
            <a:off x="5806440" y="1271016"/>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Reran the full grid on SEC XBRL revenue, 16 of 18. Median shift 0.0 places, max 1.0.</a:t>
            </a:r>
          </a:p>
        </p:txBody>
      </p:sp>
      <p:sp>
        <p:nvSpPr>
          <p:cNvPr id="9" name="Rectangle 8"/>
          <p:cNvSpPr/>
          <p:nvPr/>
        </p:nvSpPr>
        <p:spPr>
          <a:xfrm>
            <a:off x="777240" y="1719072"/>
            <a:ext cx="10607040" cy="548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65376"/>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C04A12"/>
                </a:solidFill>
                <a:latin typeface="Calibri"/>
              </a:rPr>
              <a:t>CLOSED</a:t>
            </a:r>
          </a:p>
        </p:txBody>
      </p:sp>
      <p:sp>
        <p:nvSpPr>
          <p:cNvPr id="11" name="TextBox 10"/>
          <p:cNvSpPr txBox="1"/>
          <p:nvPr/>
        </p:nvSpPr>
        <p:spPr>
          <a:xfrm>
            <a:off x="2103120" y="1847088"/>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17,496 cells are not independent</a:t>
            </a:r>
          </a:p>
        </p:txBody>
      </p:sp>
      <p:sp>
        <p:nvSpPr>
          <p:cNvPr id="12" name="TextBox 11"/>
          <p:cNvSpPr txBox="1"/>
          <p:nvPr/>
        </p:nvSpPr>
        <p:spPr>
          <a:xfrm>
            <a:off x="5806440" y="1847088"/>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648 grade paths to 606 distinct. Kish effective N 574, a 6.5% inflation.</a:t>
            </a:r>
          </a:p>
        </p:txBody>
      </p:sp>
      <p:sp>
        <p:nvSpPr>
          <p:cNvPr id="13" name="Rectangle 12"/>
          <p:cNvSpPr/>
          <p:nvPr/>
        </p:nvSpPr>
        <p:spPr>
          <a:xfrm>
            <a:off x="777240" y="2295144"/>
            <a:ext cx="10607040" cy="548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441448"/>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C04A12"/>
                </a:solidFill>
                <a:latin typeface="Calibri"/>
              </a:rPr>
              <a:t>CLOSED</a:t>
            </a:r>
          </a:p>
        </p:txBody>
      </p:sp>
      <p:sp>
        <p:nvSpPr>
          <p:cNvPr id="15" name="TextBox 14"/>
          <p:cNvSpPr txBox="1"/>
          <p:nvPr/>
        </p:nvSpPr>
        <p:spPr>
          <a:xfrm>
            <a:off x="2103120" y="2423160"/>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Reserves double-counted as harm and resilience</a:t>
            </a:r>
          </a:p>
        </p:txBody>
      </p:sp>
      <p:sp>
        <p:nvSpPr>
          <p:cNvPr id="16" name="TextBox 15"/>
          <p:cNvSpPr txBox="1"/>
          <p:nvPr/>
        </p:nvSpPr>
        <p:spPr>
          <a:xfrm>
            <a:off x="5806440" y="2423160"/>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Dropped reserve life. Median shift 0.0 places, only OXY moves by 1.0.</a:t>
            </a:r>
          </a:p>
        </p:txBody>
      </p:sp>
      <p:sp>
        <p:nvSpPr>
          <p:cNvPr id="17" name="Rectangle 16"/>
          <p:cNvSpPr/>
          <p:nvPr/>
        </p:nvSpPr>
        <p:spPr>
          <a:xfrm>
            <a:off x="777240" y="2871215"/>
            <a:ext cx="10607040" cy="548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3017520"/>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C04A12"/>
                </a:solidFill>
                <a:latin typeface="Calibri"/>
              </a:rPr>
              <a:t>CLOSED</a:t>
            </a:r>
          </a:p>
        </p:txBody>
      </p:sp>
      <p:sp>
        <p:nvSpPr>
          <p:cNvPr id="19" name="TextBox 18"/>
          <p:cNvSpPr txBox="1"/>
          <p:nvPr/>
        </p:nvSpPr>
        <p:spPr>
          <a:xfrm>
            <a:off x="2103120" y="2999232"/>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Settled count depends on the 95% cut-off</a:t>
            </a:r>
          </a:p>
        </p:txBody>
      </p:sp>
      <p:sp>
        <p:nvSpPr>
          <p:cNvPr id="20" name="TextBox 19"/>
          <p:cNvSpPr txBox="1"/>
          <p:nvPr/>
        </p:nvSpPr>
        <p:spPr>
          <a:xfrm>
            <a:off x="5806440" y="2999232"/>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7 pairs at 0.999 rising monotonically to 79 at 0.80. No cliff.</a:t>
            </a:r>
          </a:p>
        </p:txBody>
      </p:sp>
      <p:sp>
        <p:nvSpPr>
          <p:cNvPr id="21" name="Rectangle 20"/>
          <p:cNvSpPr/>
          <p:nvPr/>
        </p:nvSpPr>
        <p:spPr>
          <a:xfrm>
            <a:off x="777240" y="3447287"/>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593591"/>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3D3C38"/>
                </a:solidFill>
                <a:latin typeface="Calibri"/>
              </a:rPr>
              <a:t>BOUNDED</a:t>
            </a:r>
          </a:p>
        </p:txBody>
      </p:sp>
      <p:sp>
        <p:nvSpPr>
          <p:cNvPr id="23" name="TextBox 22"/>
          <p:cNvSpPr txBox="1"/>
          <p:nvPr/>
        </p:nvSpPr>
        <p:spPr>
          <a:xfrm>
            <a:off x="2103120" y="3575303"/>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Contestation is partly thin data</a:t>
            </a:r>
          </a:p>
        </p:txBody>
      </p:sp>
      <p:sp>
        <p:nvSpPr>
          <p:cNvPr id="24" name="TextBox 23"/>
          <p:cNvSpPr txBox="1"/>
          <p:nvPr/>
        </p:nvSpPr>
        <p:spPr>
          <a:xfrm>
            <a:off x="5806440" y="3575303"/>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Coverage against contestation −0.38. Not monotone in group size.</a:t>
            </a:r>
          </a:p>
        </p:txBody>
      </p:sp>
      <p:sp>
        <p:nvSpPr>
          <p:cNvPr id="25" name="Rectangle 24"/>
          <p:cNvSpPr/>
          <p:nvPr/>
        </p:nvSpPr>
        <p:spPr>
          <a:xfrm>
            <a:off x="777240" y="4023359"/>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4169663"/>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3D3C38"/>
                </a:solidFill>
                <a:latin typeface="Calibri"/>
              </a:rPr>
              <a:t>BOUNDED</a:t>
            </a:r>
          </a:p>
        </p:txBody>
      </p:sp>
      <p:sp>
        <p:nvSpPr>
          <p:cNvPr id="27" name="TextBox 26"/>
          <p:cNvSpPr txBox="1"/>
          <p:nvPr/>
        </p:nvSpPr>
        <p:spPr>
          <a:xfrm>
            <a:off x="2103120" y="4151375"/>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N = 18 quantises every statistic</a:t>
            </a:r>
          </a:p>
        </p:txBody>
      </p:sp>
      <p:sp>
        <p:nvSpPr>
          <p:cNvPr id="28" name="TextBox 27"/>
          <p:cNvSpPr txBox="1"/>
          <p:nvPr/>
        </p:nvSpPr>
        <p:spPr>
          <a:xfrm>
            <a:off x="5806440" y="4151375"/>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5.88 points per rank place. All headlines quoted in places.</a:t>
            </a:r>
          </a:p>
        </p:txBody>
      </p:sp>
      <p:sp>
        <p:nvSpPr>
          <p:cNvPr id="29" name="Rectangle 28"/>
          <p:cNvSpPr/>
          <p:nvPr/>
        </p:nvSpPr>
        <p:spPr>
          <a:xfrm>
            <a:off x="777240" y="4599431"/>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4745736"/>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3D3C38"/>
                </a:solidFill>
                <a:latin typeface="Calibri"/>
              </a:rPr>
              <a:t>BOUNDED</a:t>
            </a:r>
          </a:p>
        </p:txBody>
      </p:sp>
      <p:sp>
        <p:nvSpPr>
          <p:cNvPr id="31" name="TextBox 30"/>
          <p:cNvSpPr txBox="1"/>
          <p:nvPr/>
        </p:nvSpPr>
        <p:spPr>
          <a:xfrm>
            <a:off x="2103120" y="4727447"/>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Governance dominates by field count</a:t>
            </a:r>
          </a:p>
        </p:txBody>
      </p:sp>
      <p:sp>
        <p:nvSpPr>
          <p:cNvPr id="32" name="TextBox 31"/>
          <p:cNvSpPr txBox="1"/>
          <p:nvPr/>
        </p:nvSpPr>
        <p:spPr>
          <a:xfrm>
            <a:off x="5806440" y="4727447"/>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78 of 138. The contestation we measure is mostly E and S.</a:t>
            </a:r>
          </a:p>
        </p:txBody>
      </p:sp>
      <p:sp>
        <p:nvSpPr>
          <p:cNvPr id="33" name="Rectangle 32"/>
          <p:cNvSpPr/>
          <p:nvPr/>
        </p:nvSpPr>
        <p:spPr>
          <a:xfrm>
            <a:off x="777240" y="5175503"/>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5321807"/>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6B6A63"/>
                </a:solidFill>
                <a:latin typeface="Calibri"/>
              </a:rPr>
              <a:t>OPEN</a:t>
            </a:r>
          </a:p>
        </p:txBody>
      </p:sp>
      <p:sp>
        <p:nvSpPr>
          <p:cNvPr id="35" name="TextBox 34"/>
          <p:cNvSpPr txBox="1"/>
          <p:nvPr/>
        </p:nvSpPr>
        <p:spPr>
          <a:xfrm>
            <a:off x="2103120" y="5303519"/>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Not benchmarked against a published rating</a:t>
            </a:r>
          </a:p>
        </p:txBody>
      </p:sp>
      <p:sp>
        <p:nvSpPr>
          <p:cNvPr id="36" name="TextBox 35"/>
          <p:cNvSpPr txBox="1"/>
          <p:nvPr/>
        </p:nvSpPr>
        <p:spPr>
          <a:xfrm>
            <a:off x="5806440" y="5303519"/>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Never placed Bloomberg's own score inside our distribution. First on the roadmap.</a:t>
            </a:r>
          </a:p>
        </p:txBody>
      </p:sp>
      <p:sp>
        <p:nvSpPr>
          <p:cNvPr id="37" name="Rectangle 36"/>
          <p:cNvSpPr/>
          <p:nvPr/>
        </p:nvSpPr>
        <p:spPr>
          <a:xfrm>
            <a:off x="777240" y="5751575"/>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0120" y="5897879"/>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6B6A63"/>
                </a:solidFill>
                <a:latin typeface="Calibri"/>
              </a:rPr>
              <a:t>OPEN</a:t>
            </a:r>
          </a:p>
        </p:txBody>
      </p:sp>
      <p:sp>
        <p:nvSpPr>
          <p:cNvPr id="39" name="TextBox 38"/>
          <p:cNvSpPr txBox="1"/>
          <p:nvPr/>
        </p:nvSpPr>
        <p:spPr>
          <a:xfrm>
            <a:off x="2103120" y="5879591"/>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Scope 3, controversies, transition capex absent</a:t>
            </a:r>
          </a:p>
        </p:txBody>
      </p:sp>
      <p:sp>
        <p:nvSpPr>
          <p:cNvPr id="40" name="TextBox 39"/>
          <p:cNvSpPr txBox="1"/>
          <p:nvPr/>
        </p:nvSpPr>
        <p:spPr>
          <a:xfrm>
            <a:off x="5806440" y="5879591"/>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Scope 3 not in the export, controversies a declared boundary.</a:t>
            </a:r>
          </a:p>
        </p:txBody>
      </p:sp>
      <p:sp>
        <p:nvSpPr>
          <p:cNvPr id="41" name="TextBox 40"/>
          <p:cNvSpPr txBox="1"/>
          <p:nvPr/>
        </p:nvSpPr>
        <p:spPr>
          <a:xfrm>
            <a:off x="777240" y="6400800"/>
            <a:ext cx="10607040" cy="365760"/>
          </a:xfrm>
          <a:prstGeom prst="rect">
            <a:avLst/>
          </a:prstGeom>
          <a:noFill/>
        </p:spPr>
        <p:txBody>
          <a:bodyPr wrap="square" anchor="t" lIns="0" rIns="0" tIns="0" bIns="0">
            <a:spAutoFit/>
          </a:bodyPr>
          <a:lstStyle/>
          <a:p>
            <a:pPr algn="l">
              <a:lnSpc>
                <a:spcPct val="100000"/>
              </a:lnSpc>
              <a:spcAft>
                <a:spcPts val="600"/>
              </a:spcAft>
            </a:pPr>
            <a:r>
              <a:rPr sz="1200" b="0">
                <a:solidFill>
                  <a:srgbClr val="6B6A63"/>
                </a:solidFill>
                <a:latin typeface="Calibri"/>
              </a:rPr>
              <a:t>Every CLOSED row was tested by rerunning the pipeline, not settled by argument.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A10</a:t>
            </a:r>
            <a:r>
              <a:rPr sz="1900" b="1">
                <a:solidFill>
                  <a:srgbClr val="101010"/>
                </a:solidFill>
                <a:latin typeface="Calibri"/>
              </a:rPr>
              <a:t>     The formula, eight steps</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10607040" cy="56692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16736"/>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1</a:t>
            </a:r>
          </a:p>
        </p:txBody>
      </p:sp>
      <p:sp>
        <p:nvSpPr>
          <p:cNvPr id="7" name="TextBox 6"/>
          <p:cNvSpPr txBox="1"/>
          <p:nvPr/>
        </p:nvSpPr>
        <p:spPr>
          <a:xfrm>
            <a:off x="1600200" y="1335024"/>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exposure</a:t>
            </a:r>
          </a:p>
        </p:txBody>
      </p:sp>
      <p:sp>
        <p:nvSpPr>
          <p:cNvPr id="8" name="TextBox 7"/>
          <p:cNvSpPr txBox="1"/>
          <p:nvPr/>
        </p:nvSpPr>
        <p:spPr>
          <a:xfrm>
            <a:off x="3611880" y="1344168"/>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divide by the base for a quantity, select the published variant for a rate</a:t>
            </a:r>
          </a:p>
        </p:txBody>
      </p:sp>
      <p:sp>
        <p:nvSpPr>
          <p:cNvPr id="9" name="Rectangle 8"/>
          <p:cNvSpPr/>
          <p:nvPr/>
        </p:nvSpPr>
        <p:spPr>
          <a:xfrm>
            <a:off x="777240" y="1792224"/>
            <a:ext cx="106070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20240"/>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2</a:t>
            </a:r>
          </a:p>
        </p:txBody>
      </p:sp>
      <p:sp>
        <p:nvSpPr>
          <p:cNvPr id="11" name="TextBox 10"/>
          <p:cNvSpPr txBox="1"/>
          <p:nvPr/>
        </p:nvSpPr>
        <p:spPr>
          <a:xfrm>
            <a:off x="1600200" y="1938528"/>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window</a:t>
            </a:r>
          </a:p>
        </p:txBody>
      </p:sp>
      <p:sp>
        <p:nvSpPr>
          <p:cNvPr id="12" name="TextBox 11"/>
          <p:cNvSpPr txBox="1"/>
          <p:nvPr/>
        </p:nvSpPr>
        <p:spPr>
          <a:xfrm>
            <a:off x="3611880" y="1947672"/>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latest reported · fixed FY2024 · mean of the last three reported</a:t>
            </a:r>
          </a:p>
        </p:txBody>
      </p:sp>
      <p:sp>
        <p:nvSpPr>
          <p:cNvPr id="13" name="Rectangle 12"/>
          <p:cNvSpPr/>
          <p:nvPr/>
        </p:nvSpPr>
        <p:spPr>
          <a:xfrm>
            <a:off x="777240" y="2395728"/>
            <a:ext cx="10607040" cy="56692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523744"/>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3</a:t>
            </a:r>
          </a:p>
        </p:txBody>
      </p:sp>
      <p:sp>
        <p:nvSpPr>
          <p:cNvPr id="15" name="TextBox 14"/>
          <p:cNvSpPr txBox="1"/>
          <p:nvPr/>
        </p:nvSpPr>
        <p:spPr>
          <a:xfrm>
            <a:off x="1600200" y="2542032"/>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direction</a:t>
            </a:r>
          </a:p>
        </p:txBody>
      </p:sp>
      <p:sp>
        <p:nvSpPr>
          <p:cNvPr id="16" name="TextBox 15"/>
          <p:cNvSpPr txBox="1"/>
          <p:nvPr/>
        </p:nvSpPr>
        <p:spPr>
          <a:xfrm>
            <a:off x="3611880" y="2551176"/>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level, or relative change between the last reported value and two reported steps earlier</a:t>
            </a:r>
          </a:p>
        </p:txBody>
      </p:sp>
      <p:sp>
        <p:nvSpPr>
          <p:cNvPr id="17" name="Rectangle 16"/>
          <p:cNvSpPr/>
          <p:nvPr/>
        </p:nvSpPr>
        <p:spPr>
          <a:xfrm>
            <a:off x="777240" y="2999232"/>
            <a:ext cx="106070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127248"/>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4</a:t>
            </a:r>
          </a:p>
        </p:txBody>
      </p:sp>
      <p:sp>
        <p:nvSpPr>
          <p:cNvPr id="19" name="TextBox 18"/>
          <p:cNvSpPr txBox="1"/>
          <p:nvPr/>
        </p:nvSpPr>
        <p:spPr>
          <a:xfrm>
            <a:off x="1600200" y="3145536"/>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orientation</a:t>
            </a:r>
          </a:p>
        </p:txBody>
      </p:sp>
      <p:sp>
        <p:nvSpPr>
          <p:cNvPr id="20" name="TextBox 19"/>
          <p:cNvSpPr txBox="1"/>
          <p:nvPr/>
        </p:nvSpPr>
        <p:spPr>
          <a:xfrm>
            <a:off x="3611880" y="3154680"/>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u = polarity × q, so higher u is always worse</a:t>
            </a:r>
          </a:p>
        </p:txBody>
      </p:sp>
      <p:sp>
        <p:nvSpPr>
          <p:cNvPr id="21" name="Rectangle 20"/>
          <p:cNvSpPr/>
          <p:nvPr/>
        </p:nvSpPr>
        <p:spPr>
          <a:xfrm>
            <a:off x="777240" y="3602736"/>
            <a:ext cx="10607040" cy="56692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3730752"/>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5</a:t>
            </a:r>
          </a:p>
        </p:txBody>
      </p:sp>
      <p:sp>
        <p:nvSpPr>
          <p:cNvPr id="23" name="TextBox 22"/>
          <p:cNvSpPr txBox="1"/>
          <p:nvPr/>
        </p:nvSpPr>
        <p:spPr>
          <a:xfrm>
            <a:off x="1600200" y="3749040"/>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normalisation</a:t>
            </a:r>
          </a:p>
        </p:txBody>
      </p:sp>
      <p:sp>
        <p:nvSpPr>
          <p:cNvPr id="24" name="TextBox 23"/>
          <p:cNvSpPr txBox="1"/>
          <p:nvPr/>
        </p:nvSpPr>
        <p:spPr>
          <a:xfrm>
            <a:off x="3611880" y="3758184"/>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raw value to a 0 to 100 grade inside the peer set, by one of four normalisers</a:t>
            </a:r>
          </a:p>
        </p:txBody>
      </p:sp>
      <p:sp>
        <p:nvSpPr>
          <p:cNvPr id="25" name="Rectangle 24"/>
          <p:cNvSpPr/>
          <p:nvPr/>
        </p:nvSpPr>
        <p:spPr>
          <a:xfrm>
            <a:off x="777240" y="4206240"/>
            <a:ext cx="106070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4334256"/>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6</a:t>
            </a:r>
          </a:p>
        </p:txBody>
      </p:sp>
      <p:sp>
        <p:nvSpPr>
          <p:cNvPr id="27" name="TextBox 26"/>
          <p:cNvSpPr txBox="1"/>
          <p:nvPr/>
        </p:nvSpPr>
        <p:spPr>
          <a:xfrm>
            <a:off x="1600200" y="4352544"/>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aggregation</a:t>
            </a:r>
          </a:p>
        </p:txBody>
      </p:sp>
      <p:sp>
        <p:nvSpPr>
          <p:cNvPr id="28" name="TextBox 27"/>
          <p:cNvSpPr txBox="1"/>
          <p:nvPr/>
        </p:nvSpPr>
        <p:spPr>
          <a:xfrm>
            <a:off x="3611880" y="4361688"/>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fields to pillar to composite, under the missing-data rule and the chosen mean</a:t>
            </a:r>
          </a:p>
        </p:txBody>
      </p:sp>
      <p:sp>
        <p:nvSpPr>
          <p:cNvPr id="29" name="Rectangle 28"/>
          <p:cNvSpPr/>
          <p:nvPr/>
        </p:nvSpPr>
        <p:spPr>
          <a:xfrm>
            <a:off x="777240" y="4809744"/>
            <a:ext cx="10607040" cy="56692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4937760"/>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7</a:t>
            </a:r>
          </a:p>
        </p:txBody>
      </p:sp>
      <p:sp>
        <p:nvSpPr>
          <p:cNvPr id="31" name="TextBox 30"/>
          <p:cNvSpPr txBox="1"/>
          <p:nvPr/>
        </p:nvSpPr>
        <p:spPr>
          <a:xfrm>
            <a:off x="1600200" y="4956048"/>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rank</a:t>
            </a:r>
          </a:p>
        </p:txBody>
      </p:sp>
      <p:sp>
        <p:nvSpPr>
          <p:cNvPr id="32" name="TextBox 31"/>
          <p:cNvSpPr txBox="1"/>
          <p:nvPr/>
        </p:nvSpPr>
        <p:spPr>
          <a:xfrm>
            <a:off x="3611880" y="4965192"/>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R = 100 (N − rho) / (N − 1), so 100 is best of those with a score</a:t>
            </a:r>
          </a:p>
        </p:txBody>
      </p:sp>
      <p:sp>
        <p:nvSpPr>
          <p:cNvPr id="33" name="Rectangle 32"/>
          <p:cNvSpPr/>
          <p:nvPr/>
        </p:nvSpPr>
        <p:spPr>
          <a:xfrm>
            <a:off x="777240" y="5413248"/>
            <a:ext cx="106070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5541264"/>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8</a:t>
            </a:r>
          </a:p>
        </p:txBody>
      </p:sp>
      <p:sp>
        <p:nvSpPr>
          <p:cNvPr id="35" name="TextBox 34"/>
          <p:cNvSpPr txBox="1"/>
          <p:nvPr/>
        </p:nvSpPr>
        <p:spPr>
          <a:xfrm>
            <a:off x="1600200" y="5559552"/>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distribution</a:t>
            </a:r>
          </a:p>
        </p:txBody>
      </p:sp>
      <p:sp>
        <p:nvSpPr>
          <p:cNvPr id="36" name="TextBox 35"/>
          <p:cNvSpPr txBox="1"/>
          <p:nvPr/>
        </p:nvSpPr>
        <p:spPr>
          <a:xfrm>
            <a:off x="3611880" y="5568696"/>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consensus = median R, contestation = interquartile width ÷ 5.88</a:t>
            </a:r>
          </a:p>
        </p:txBody>
      </p:sp>
      <p:sp>
        <p:nvSpPr>
          <p:cNvPr id="37" name="Rectangle 36"/>
          <p:cNvSpPr/>
          <p:nvPr/>
        </p:nvSpPr>
        <p:spPr>
          <a:xfrm>
            <a:off x="777240" y="6126480"/>
            <a:ext cx="10607040" cy="566928"/>
          </a:xfrm>
          <a:prstGeom prst="rect">
            <a:avLst/>
          </a:prstGeom>
          <a:noFill/>
          <a:ln w="2540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6272784"/>
            <a:ext cx="10058400" cy="36576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Order matters: aggregate fields inside each specification, then take the distribution across specifications. Reversing them collapses the spread.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A11</a:t>
            </a:r>
            <a:r>
              <a:rPr sz="1900" b="1">
                <a:solidFill>
                  <a:srgbClr val="101010"/>
                </a:solidFill>
                <a:latin typeface="Calibri"/>
              </a:rPr>
              <a:t>     Bonus: the allocation rule and the signal behind it</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6035040" cy="347472"/>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Ticker</a:t>
            </a:r>
          </a:p>
        </p:txBody>
      </p:sp>
      <p:sp>
        <p:nvSpPr>
          <p:cNvPr id="7" name="TextBox 6"/>
          <p:cNvSpPr txBox="1"/>
          <p:nvPr/>
        </p:nvSpPr>
        <p:spPr>
          <a:xfrm>
            <a:off x="182880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P(A) level</a:t>
            </a:r>
          </a:p>
        </p:txBody>
      </p:sp>
      <p:sp>
        <p:nvSpPr>
          <p:cNvPr id="8" name="TextBox 7"/>
          <p:cNvSpPr txBox="1"/>
          <p:nvPr/>
        </p:nvSpPr>
        <p:spPr>
          <a:xfrm>
            <a:off x="283464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P(B) change</a:t>
            </a:r>
          </a:p>
        </p:txBody>
      </p:sp>
      <p:sp>
        <p:nvSpPr>
          <p:cNvPr id="9" name="TextBox 8"/>
          <p:cNvSpPr txBox="1"/>
          <p:nvPr/>
        </p:nvSpPr>
        <p:spPr>
          <a:xfrm>
            <a:off x="393192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Delta</a:t>
            </a:r>
          </a:p>
        </p:txBody>
      </p:sp>
      <p:sp>
        <p:nvSpPr>
          <p:cNvPr id="10" name="TextBox 9"/>
          <p:cNvSpPr txBox="1"/>
          <p:nvPr/>
        </p:nvSpPr>
        <p:spPr>
          <a:xfrm>
            <a:off x="475488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Bucket</a:t>
            </a:r>
          </a:p>
        </p:txBody>
      </p:sp>
      <p:sp>
        <p:nvSpPr>
          <p:cNvPr id="11" name="TextBox 10"/>
          <p:cNvSpPr txBox="1"/>
          <p:nvPr/>
        </p:nvSpPr>
        <p:spPr>
          <a:xfrm>
            <a:off x="960120" y="160020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MPC</a:t>
            </a:r>
          </a:p>
        </p:txBody>
      </p:sp>
      <p:sp>
        <p:nvSpPr>
          <p:cNvPr id="12" name="TextBox 11"/>
          <p:cNvSpPr txBox="1"/>
          <p:nvPr/>
        </p:nvSpPr>
        <p:spPr>
          <a:xfrm>
            <a:off x="1828800" y="160020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0.12</a:t>
            </a:r>
          </a:p>
        </p:txBody>
      </p:sp>
      <p:sp>
        <p:nvSpPr>
          <p:cNvPr id="13" name="TextBox 12"/>
          <p:cNvSpPr txBox="1"/>
          <p:nvPr/>
        </p:nvSpPr>
        <p:spPr>
          <a:xfrm>
            <a:off x="2834640" y="160020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0.73</a:t>
            </a:r>
          </a:p>
        </p:txBody>
      </p:sp>
      <p:sp>
        <p:nvSpPr>
          <p:cNvPr id="14" name="TextBox 13"/>
          <p:cNvSpPr txBox="1"/>
          <p:nvPr/>
        </p:nvSpPr>
        <p:spPr>
          <a:xfrm>
            <a:off x="3931920" y="160020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+0.61</a:t>
            </a:r>
          </a:p>
        </p:txBody>
      </p:sp>
      <p:sp>
        <p:nvSpPr>
          <p:cNvPr id="15" name="TextBox 14"/>
          <p:cNvSpPr txBox="1"/>
          <p:nvPr/>
        </p:nvSpPr>
        <p:spPr>
          <a:xfrm>
            <a:off x="4754880" y="160020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core</a:t>
            </a:r>
          </a:p>
        </p:txBody>
      </p:sp>
      <p:sp>
        <p:nvSpPr>
          <p:cNvPr id="16" name="Rectangle 15"/>
          <p:cNvSpPr/>
          <p:nvPr/>
        </p:nvSpPr>
        <p:spPr>
          <a:xfrm>
            <a:off x="777240" y="1901952"/>
            <a:ext cx="60350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19659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OXY</a:t>
            </a:r>
          </a:p>
        </p:txBody>
      </p:sp>
      <p:sp>
        <p:nvSpPr>
          <p:cNvPr id="18" name="TextBox 17"/>
          <p:cNvSpPr txBox="1"/>
          <p:nvPr/>
        </p:nvSpPr>
        <p:spPr>
          <a:xfrm>
            <a:off x="1828800" y="19659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0.27</a:t>
            </a:r>
          </a:p>
        </p:txBody>
      </p:sp>
      <p:sp>
        <p:nvSpPr>
          <p:cNvPr id="19" name="TextBox 18"/>
          <p:cNvSpPr txBox="1"/>
          <p:nvPr/>
        </p:nvSpPr>
        <p:spPr>
          <a:xfrm>
            <a:off x="2834640" y="19659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0.69</a:t>
            </a:r>
          </a:p>
        </p:txBody>
      </p:sp>
      <p:sp>
        <p:nvSpPr>
          <p:cNvPr id="20" name="TextBox 19"/>
          <p:cNvSpPr txBox="1"/>
          <p:nvPr/>
        </p:nvSpPr>
        <p:spPr>
          <a:xfrm>
            <a:off x="3931920" y="196596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+0.41</a:t>
            </a:r>
          </a:p>
        </p:txBody>
      </p:sp>
      <p:sp>
        <p:nvSpPr>
          <p:cNvPr id="21" name="TextBox 20"/>
          <p:cNvSpPr txBox="1"/>
          <p:nvPr/>
        </p:nvSpPr>
        <p:spPr>
          <a:xfrm>
            <a:off x="4754880" y="19659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core</a:t>
            </a:r>
          </a:p>
        </p:txBody>
      </p:sp>
      <p:sp>
        <p:nvSpPr>
          <p:cNvPr id="22" name="TextBox 21"/>
          <p:cNvSpPr txBox="1"/>
          <p:nvPr/>
        </p:nvSpPr>
        <p:spPr>
          <a:xfrm>
            <a:off x="960120" y="23317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HAL</a:t>
            </a:r>
          </a:p>
        </p:txBody>
      </p:sp>
      <p:sp>
        <p:nvSpPr>
          <p:cNvPr id="23" name="TextBox 22"/>
          <p:cNvSpPr txBox="1"/>
          <p:nvPr/>
        </p:nvSpPr>
        <p:spPr>
          <a:xfrm>
            <a:off x="1828800" y="23317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0.02</a:t>
            </a:r>
          </a:p>
        </p:txBody>
      </p:sp>
      <p:sp>
        <p:nvSpPr>
          <p:cNvPr id="24" name="TextBox 23"/>
          <p:cNvSpPr txBox="1"/>
          <p:nvPr/>
        </p:nvSpPr>
        <p:spPr>
          <a:xfrm>
            <a:off x="2834640" y="23317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0.39</a:t>
            </a:r>
          </a:p>
        </p:txBody>
      </p:sp>
      <p:sp>
        <p:nvSpPr>
          <p:cNvPr id="25" name="TextBox 24"/>
          <p:cNvSpPr txBox="1"/>
          <p:nvPr/>
        </p:nvSpPr>
        <p:spPr>
          <a:xfrm>
            <a:off x="3931920" y="233172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+0.38</a:t>
            </a:r>
          </a:p>
        </p:txBody>
      </p:sp>
      <p:sp>
        <p:nvSpPr>
          <p:cNvPr id="26" name="TextBox 25"/>
          <p:cNvSpPr txBox="1"/>
          <p:nvPr/>
        </p:nvSpPr>
        <p:spPr>
          <a:xfrm>
            <a:off x="4754880" y="23317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Excluded, base below 0.05</a:t>
            </a:r>
          </a:p>
        </p:txBody>
      </p:sp>
      <p:sp>
        <p:nvSpPr>
          <p:cNvPr id="27" name="Rectangle 26"/>
          <p:cNvSpPr/>
          <p:nvPr/>
        </p:nvSpPr>
        <p:spPr>
          <a:xfrm>
            <a:off x="777240" y="2633472"/>
            <a:ext cx="60350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20" y="269747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PSX</a:t>
            </a:r>
          </a:p>
        </p:txBody>
      </p:sp>
      <p:sp>
        <p:nvSpPr>
          <p:cNvPr id="29" name="TextBox 28"/>
          <p:cNvSpPr txBox="1"/>
          <p:nvPr/>
        </p:nvSpPr>
        <p:spPr>
          <a:xfrm>
            <a:off x="1828800" y="269747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0.23</a:t>
            </a:r>
          </a:p>
        </p:txBody>
      </p:sp>
      <p:sp>
        <p:nvSpPr>
          <p:cNvPr id="30" name="TextBox 29"/>
          <p:cNvSpPr txBox="1"/>
          <p:nvPr/>
        </p:nvSpPr>
        <p:spPr>
          <a:xfrm>
            <a:off x="2834640" y="269747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0.51</a:t>
            </a:r>
          </a:p>
        </p:txBody>
      </p:sp>
      <p:sp>
        <p:nvSpPr>
          <p:cNvPr id="31" name="TextBox 30"/>
          <p:cNvSpPr txBox="1"/>
          <p:nvPr/>
        </p:nvSpPr>
        <p:spPr>
          <a:xfrm>
            <a:off x="3931920" y="2697479"/>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+0.28</a:t>
            </a:r>
          </a:p>
        </p:txBody>
      </p:sp>
      <p:sp>
        <p:nvSpPr>
          <p:cNvPr id="32" name="TextBox 31"/>
          <p:cNvSpPr txBox="1"/>
          <p:nvPr/>
        </p:nvSpPr>
        <p:spPr>
          <a:xfrm>
            <a:off x="4754880" y="269747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core</a:t>
            </a:r>
          </a:p>
        </p:txBody>
      </p:sp>
      <p:sp>
        <p:nvSpPr>
          <p:cNvPr id="33" name="TextBox 32"/>
          <p:cNvSpPr txBox="1"/>
          <p:nvPr/>
        </p:nvSpPr>
        <p:spPr>
          <a:xfrm>
            <a:off x="960120" y="306323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KMI</a:t>
            </a:r>
          </a:p>
        </p:txBody>
      </p:sp>
      <p:sp>
        <p:nvSpPr>
          <p:cNvPr id="34" name="TextBox 33"/>
          <p:cNvSpPr txBox="1"/>
          <p:nvPr/>
        </p:nvSpPr>
        <p:spPr>
          <a:xfrm>
            <a:off x="1828800" y="306323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0.27</a:t>
            </a:r>
          </a:p>
        </p:txBody>
      </p:sp>
      <p:sp>
        <p:nvSpPr>
          <p:cNvPr id="35" name="TextBox 34"/>
          <p:cNvSpPr txBox="1"/>
          <p:nvPr/>
        </p:nvSpPr>
        <p:spPr>
          <a:xfrm>
            <a:off x="2834640" y="306323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0.53</a:t>
            </a:r>
          </a:p>
        </p:txBody>
      </p:sp>
      <p:sp>
        <p:nvSpPr>
          <p:cNvPr id="36" name="TextBox 35"/>
          <p:cNvSpPr txBox="1"/>
          <p:nvPr/>
        </p:nvSpPr>
        <p:spPr>
          <a:xfrm>
            <a:off x="3931920" y="3063239"/>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+0.27</a:t>
            </a:r>
          </a:p>
        </p:txBody>
      </p:sp>
      <p:sp>
        <p:nvSpPr>
          <p:cNvPr id="37" name="TextBox 36"/>
          <p:cNvSpPr txBox="1"/>
          <p:nvPr/>
        </p:nvSpPr>
        <p:spPr>
          <a:xfrm>
            <a:off x="4754880" y="306323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satellite</a:t>
            </a:r>
          </a:p>
        </p:txBody>
      </p:sp>
      <p:sp>
        <p:nvSpPr>
          <p:cNvPr id="38" name="Rectangle 37"/>
          <p:cNvSpPr/>
          <p:nvPr/>
        </p:nvSpPr>
        <p:spPr>
          <a:xfrm>
            <a:off x="777240" y="3364991"/>
            <a:ext cx="60350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342899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WMB</a:t>
            </a:r>
          </a:p>
        </p:txBody>
      </p:sp>
      <p:sp>
        <p:nvSpPr>
          <p:cNvPr id="40" name="TextBox 39"/>
          <p:cNvSpPr txBox="1"/>
          <p:nvPr/>
        </p:nvSpPr>
        <p:spPr>
          <a:xfrm>
            <a:off x="1828800" y="342899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0.35</a:t>
            </a:r>
          </a:p>
        </p:txBody>
      </p:sp>
      <p:sp>
        <p:nvSpPr>
          <p:cNvPr id="41" name="TextBox 40"/>
          <p:cNvSpPr txBox="1"/>
          <p:nvPr/>
        </p:nvSpPr>
        <p:spPr>
          <a:xfrm>
            <a:off x="2834640" y="342899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0.57</a:t>
            </a:r>
          </a:p>
        </p:txBody>
      </p:sp>
      <p:sp>
        <p:nvSpPr>
          <p:cNvPr id="42" name="TextBox 41"/>
          <p:cNvSpPr txBox="1"/>
          <p:nvPr/>
        </p:nvSpPr>
        <p:spPr>
          <a:xfrm>
            <a:off x="3931920" y="3428999"/>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+0.22</a:t>
            </a:r>
          </a:p>
        </p:txBody>
      </p:sp>
      <p:sp>
        <p:nvSpPr>
          <p:cNvPr id="43" name="TextBox 42"/>
          <p:cNvSpPr txBox="1"/>
          <p:nvPr/>
        </p:nvSpPr>
        <p:spPr>
          <a:xfrm>
            <a:off x="4754880" y="342899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satellite</a:t>
            </a:r>
          </a:p>
        </p:txBody>
      </p:sp>
      <p:sp>
        <p:nvSpPr>
          <p:cNvPr id="44" name="TextBox 43"/>
          <p:cNvSpPr txBox="1"/>
          <p:nvPr/>
        </p:nvSpPr>
        <p:spPr>
          <a:xfrm>
            <a:off x="960120" y="37947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EXE</a:t>
            </a:r>
          </a:p>
        </p:txBody>
      </p:sp>
      <p:sp>
        <p:nvSpPr>
          <p:cNvPr id="45" name="TextBox 44"/>
          <p:cNvSpPr txBox="1"/>
          <p:nvPr/>
        </p:nvSpPr>
        <p:spPr>
          <a:xfrm>
            <a:off x="1828800" y="37947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0.99</a:t>
            </a:r>
          </a:p>
        </p:txBody>
      </p:sp>
      <p:sp>
        <p:nvSpPr>
          <p:cNvPr id="46" name="TextBox 45"/>
          <p:cNvSpPr txBox="1"/>
          <p:nvPr/>
        </p:nvSpPr>
        <p:spPr>
          <a:xfrm>
            <a:off x="2834640" y="37947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0.62</a:t>
            </a:r>
          </a:p>
        </p:txBody>
      </p:sp>
      <p:sp>
        <p:nvSpPr>
          <p:cNvPr id="47" name="TextBox 46"/>
          <p:cNvSpPr txBox="1"/>
          <p:nvPr/>
        </p:nvSpPr>
        <p:spPr>
          <a:xfrm>
            <a:off x="3931920" y="379476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−0.38</a:t>
            </a:r>
          </a:p>
        </p:txBody>
      </p:sp>
      <p:sp>
        <p:nvSpPr>
          <p:cNvPr id="48" name="TextBox 47"/>
          <p:cNvSpPr txBox="1"/>
          <p:nvPr/>
        </p:nvSpPr>
        <p:spPr>
          <a:xfrm>
            <a:off x="4754880" y="37947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Priced leader</a:t>
            </a:r>
          </a:p>
        </p:txBody>
      </p:sp>
      <p:sp>
        <p:nvSpPr>
          <p:cNvPr id="49" name="Rectangle 48"/>
          <p:cNvSpPr/>
          <p:nvPr/>
        </p:nvSpPr>
        <p:spPr>
          <a:xfrm>
            <a:off x="777240" y="4096512"/>
            <a:ext cx="60350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 y="41605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XOM</a:t>
            </a:r>
          </a:p>
        </p:txBody>
      </p:sp>
      <p:sp>
        <p:nvSpPr>
          <p:cNvPr id="51" name="TextBox 50"/>
          <p:cNvSpPr txBox="1"/>
          <p:nvPr/>
        </p:nvSpPr>
        <p:spPr>
          <a:xfrm>
            <a:off x="1828800" y="41605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0.72</a:t>
            </a:r>
          </a:p>
        </p:txBody>
      </p:sp>
      <p:sp>
        <p:nvSpPr>
          <p:cNvPr id="52" name="TextBox 51"/>
          <p:cNvSpPr txBox="1"/>
          <p:nvPr/>
        </p:nvSpPr>
        <p:spPr>
          <a:xfrm>
            <a:off x="2834640" y="41605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0.26</a:t>
            </a:r>
          </a:p>
        </p:txBody>
      </p:sp>
      <p:sp>
        <p:nvSpPr>
          <p:cNvPr id="53" name="TextBox 52"/>
          <p:cNvSpPr txBox="1"/>
          <p:nvPr/>
        </p:nvSpPr>
        <p:spPr>
          <a:xfrm>
            <a:off x="3931920" y="416052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−0.46</a:t>
            </a:r>
          </a:p>
        </p:txBody>
      </p:sp>
      <p:sp>
        <p:nvSpPr>
          <p:cNvPr id="54" name="TextBox 53"/>
          <p:cNvSpPr txBox="1"/>
          <p:nvPr/>
        </p:nvSpPr>
        <p:spPr>
          <a:xfrm>
            <a:off x="4754880" y="41605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Priced leader</a:t>
            </a:r>
          </a:p>
        </p:txBody>
      </p:sp>
      <p:sp>
        <p:nvSpPr>
          <p:cNvPr id="55" name="TextBox 54"/>
          <p:cNvSpPr txBox="1"/>
          <p:nvPr/>
        </p:nvSpPr>
        <p:spPr>
          <a:xfrm>
            <a:off x="960120" y="452628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EOG</a:t>
            </a:r>
          </a:p>
        </p:txBody>
      </p:sp>
      <p:sp>
        <p:nvSpPr>
          <p:cNvPr id="56" name="TextBox 55"/>
          <p:cNvSpPr txBox="1"/>
          <p:nvPr/>
        </p:nvSpPr>
        <p:spPr>
          <a:xfrm>
            <a:off x="1828800" y="452628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1.00</a:t>
            </a:r>
          </a:p>
        </p:txBody>
      </p:sp>
      <p:sp>
        <p:nvSpPr>
          <p:cNvPr id="57" name="TextBox 56"/>
          <p:cNvSpPr txBox="1"/>
          <p:nvPr/>
        </p:nvSpPr>
        <p:spPr>
          <a:xfrm>
            <a:off x="2834640" y="452628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0.34</a:t>
            </a:r>
          </a:p>
        </p:txBody>
      </p:sp>
      <p:sp>
        <p:nvSpPr>
          <p:cNvPr id="58" name="TextBox 57"/>
          <p:cNvSpPr txBox="1"/>
          <p:nvPr/>
        </p:nvSpPr>
        <p:spPr>
          <a:xfrm>
            <a:off x="3931920" y="452628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−0.66</a:t>
            </a:r>
          </a:p>
        </p:txBody>
      </p:sp>
      <p:sp>
        <p:nvSpPr>
          <p:cNvPr id="59" name="TextBox 58"/>
          <p:cNvSpPr txBox="1"/>
          <p:nvPr/>
        </p:nvSpPr>
        <p:spPr>
          <a:xfrm>
            <a:off x="4754880" y="452628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Priced leader, funds the book</a:t>
            </a:r>
          </a:p>
        </p:txBody>
      </p:sp>
      <p:sp>
        <p:nvSpPr>
          <p:cNvPr id="60" name="TextBox 59"/>
          <p:cNvSpPr txBox="1"/>
          <p:nvPr/>
        </p:nvSpPr>
        <p:spPr>
          <a:xfrm>
            <a:off x="7086600" y="1188720"/>
            <a:ext cx="429768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$m allocation</a:t>
            </a:r>
          </a:p>
        </p:txBody>
      </p:sp>
      <p:sp>
        <p:nvSpPr>
          <p:cNvPr id="61" name="Rectangle 60"/>
          <p:cNvSpPr/>
          <p:nvPr/>
        </p:nvSpPr>
        <p:spPr>
          <a:xfrm>
            <a:off x="7086600" y="1572768"/>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69480" y="1664208"/>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350</a:t>
            </a:r>
          </a:p>
        </p:txBody>
      </p:sp>
      <p:sp>
        <p:nvSpPr>
          <p:cNvPr id="63" name="TextBox 62"/>
          <p:cNvSpPr txBox="1"/>
          <p:nvPr/>
        </p:nvSpPr>
        <p:spPr>
          <a:xfrm>
            <a:off x="8229600" y="1645920"/>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Trajectory long</a:t>
            </a:r>
          </a:p>
        </p:txBody>
      </p:sp>
      <p:sp>
        <p:nvSpPr>
          <p:cNvPr id="64" name="TextBox 63"/>
          <p:cNvSpPr txBox="1"/>
          <p:nvPr/>
        </p:nvSpPr>
        <p:spPr>
          <a:xfrm>
            <a:off x="8229600" y="1920240"/>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top quartile of delta, excluding a base below 0.05</a:t>
            </a:r>
          </a:p>
        </p:txBody>
      </p:sp>
      <p:sp>
        <p:nvSpPr>
          <p:cNvPr id="65" name="Rectangle 64"/>
          <p:cNvSpPr/>
          <p:nvPr/>
        </p:nvSpPr>
        <p:spPr>
          <a:xfrm>
            <a:off x="7086600" y="2322576"/>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69480" y="2414016"/>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250</a:t>
            </a:r>
          </a:p>
        </p:txBody>
      </p:sp>
      <p:sp>
        <p:nvSpPr>
          <p:cNvPr id="67" name="TextBox 66"/>
          <p:cNvSpPr txBox="1"/>
          <p:nvPr/>
        </p:nvSpPr>
        <p:spPr>
          <a:xfrm>
            <a:off x="8229600" y="2395728"/>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Convention long</a:t>
            </a:r>
          </a:p>
        </p:txBody>
      </p:sp>
      <p:sp>
        <p:nvSpPr>
          <p:cNvPr id="68" name="TextBox 67"/>
          <p:cNvSpPr txBox="1"/>
          <p:nvPr/>
        </p:nvSpPr>
        <p:spPr>
          <a:xfrm>
            <a:off x="8229600" y="2670048"/>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P rises as the missing-data rule hardens under CSRD and ISSB</a:t>
            </a:r>
          </a:p>
        </p:txBody>
      </p:sp>
      <p:sp>
        <p:nvSpPr>
          <p:cNvPr id="69" name="Rectangle 68"/>
          <p:cNvSpPr/>
          <p:nvPr/>
        </p:nvSpPr>
        <p:spPr>
          <a:xfrm>
            <a:off x="7086600" y="3072384"/>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69480" y="3163824"/>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150</a:t>
            </a:r>
          </a:p>
        </p:txBody>
      </p:sp>
      <p:sp>
        <p:nvSpPr>
          <p:cNvPr id="71" name="TextBox 70"/>
          <p:cNvSpPr txBox="1"/>
          <p:nvPr/>
        </p:nvSpPr>
        <p:spPr>
          <a:xfrm>
            <a:off x="8229600" y="3145536"/>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Enablers</a:t>
            </a:r>
          </a:p>
        </p:txBody>
      </p:sp>
      <p:sp>
        <p:nvSpPr>
          <p:cNvPr id="72" name="TextBox 71"/>
          <p:cNvSpPr txBox="1"/>
          <p:nvPr/>
        </p:nvSpPr>
        <p:spPr>
          <a:xfrm>
            <a:off x="8229600" y="3419856"/>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grid and electrification suppliers. Small, because it is the crowded trade</a:t>
            </a:r>
          </a:p>
        </p:txBody>
      </p:sp>
      <p:sp>
        <p:nvSpPr>
          <p:cNvPr id="73" name="Rectangle 72"/>
          <p:cNvSpPr/>
          <p:nvPr/>
        </p:nvSpPr>
        <p:spPr>
          <a:xfrm>
            <a:off x="7086600" y="3822191"/>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269480" y="3913631"/>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−150</a:t>
            </a:r>
          </a:p>
        </p:txBody>
      </p:sp>
      <p:sp>
        <p:nvSpPr>
          <p:cNvPr id="75" name="TextBox 74"/>
          <p:cNvSpPr txBox="1"/>
          <p:nvPr/>
        </p:nvSpPr>
        <p:spPr>
          <a:xfrm>
            <a:off x="8229600" y="3895344"/>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Structural short</a:t>
            </a:r>
          </a:p>
        </p:txBody>
      </p:sp>
      <p:sp>
        <p:nvSpPr>
          <p:cNvPr id="76" name="TextBox 75"/>
          <p:cNvSpPr txBox="1"/>
          <p:nvPr/>
        </p:nvSpPr>
        <p:spPr>
          <a:xfrm>
            <a:off x="8229600" y="4169663"/>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P(A) &lt; 0.2 and delta &lt; 0.05. Funds the book, strips sector beta</a:t>
            </a:r>
          </a:p>
        </p:txBody>
      </p:sp>
      <p:sp>
        <p:nvSpPr>
          <p:cNvPr id="77" name="Rectangle 76"/>
          <p:cNvSpPr/>
          <p:nvPr/>
        </p:nvSpPr>
        <p:spPr>
          <a:xfrm>
            <a:off x="7086600" y="4572000"/>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269480" y="4663440"/>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250</a:t>
            </a:r>
          </a:p>
        </p:txBody>
      </p:sp>
      <p:sp>
        <p:nvSpPr>
          <p:cNvPr id="79" name="TextBox 78"/>
          <p:cNvSpPr txBox="1"/>
          <p:nvPr/>
        </p:nvSpPr>
        <p:spPr>
          <a:xfrm>
            <a:off x="8229600" y="4645152"/>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Dry powder</a:t>
            </a:r>
          </a:p>
        </p:txBody>
      </p:sp>
      <p:sp>
        <p:nvSpPr>
          <p:cNvPr id="80" name="TextBox 79"/>
          <p:cNvSpPr txBox="1"/>
          <p:nvPr/>
        </p:nvSpPr>
        <p:spPr>
          <a:xfrm>
            <a:off x="8229600" y="4919472"/>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deploy on a 15% drawdown within 90 days, else revert to benchmark</a:t>
            </a:r>
          </a:p>
        </p:txBody>
      </p:sp>
      <p:sp>
        <p:nvSpPr>
          <p:cNvPr id="81" name="TextBox 80"/>
          <p:cNvSpPr txBox="1"/>
          <p:nvPr/>
        </p:nvSpPr>
        <p:spPr>
          <a:xfrm>
            <a:off x="777240" y="5029200"/>
            <a:ext cx="6035040" cy="1371600"/>
          </a:xfrm>
          <a:prstGeom prst="rect">
            <a:avLst/>
          </a:prstGeom>
          <a:noFill/>
        </p:spPr>
        <p:txBody>
          <a:bodyPr wrap="square" anchor="t" lIns="0" rIns="0" tIns="0" bIns="0">
            <a:spAutoFit/>
          </a:bodyPr>
          <a:lstStyle/>
          <a:p>
            <a:pPr algn="l">
              <a:lnSpc>
                <a:spcPct val="115000"/>
              </a:lnSpc>
              <a:spcAft>
                <a:spcPts val="500"/>
              </a:spcAft>
            </a:pPr>
            <a:r>
              <a:rPr sz="1300" b="1">
                <a:solidFill>
                  <a:srgbClr val="101010"/>
                </a:solidFill>
                <a:latin typeface="Calibri"/>
              </a:rPr>
              <a:t>Three disciplines from the framework, not from taste.</a:t>
            </a:r>
          </a:p>
          <a:p>
            <a:pPr algn="l">
              <a:lnSpc>
                <a:spcPct val="115000"/>
              </a:lnSpc>
              <a:spcAft>
                <a:spcPts val="500"/>
              </a:spcAft>
            </a:pPr>
            <a:r>
              <a:rPr sz="1100" b="0">
                <a:solidFill>
                  <a:srgbClr val="3D3C38"/>
                </a:solidFill>
                <a:latin typeface="Calibri"/>
              </a:rPr>
              <a:t>Size by probability, not conviction. Cap correlated clusters so three bets on cheap hydrogen count once. Exit when P(A) exceeds 0.8, because Pástor shows green assets earn lower expected returns once repriced.</a:t>
            </a:r>
          </a:p>
        </p:txBody>
      </p:sp>
      <p:sp>
        <p:nvSpPr>
          <p:cNvPr id="82" name="TextBox 81"/>
          <p:cNvSpPr txBox="1"/>
          <p:nvPr/>
        </p:nvSpPr>
        <p:spPr>
          <a:xfrm>
            <a:off x="777240" y="6309360"/>
            <a:ext cx="10607040" cy="365760"/>
          </a:xfrm>
          <a:prstGeom prst="rect">
            <a:avLst/>
          </a:prstGeom>
          <a:noFill/>
        </p:spPr>
        <p:txBody>
          <a:bodyPr wrap="square" anchor="t" lIns="0" rIns="0" tIns="0" bIns="0">
            <a:spAutoFit/>
          </a:bodyPr>
          <a:lstStyle/>
          <a:p>
            <a:pPr algn="l">
              <a:lnSpc>
                <a:spcPct val="100000"/>
              </a:lnSpc>
              <a:spcAft>
                <a:spcPts val="600"/>
              </a:spcAft>
            </a:pPr>
            <a:r>
              <a:rPr sz="1100" b="0">
                <a:solidFill>
                  <a:srgbClr val="6B6A63"/>
                </a:solidFill>
                <a:latin typeface="Calibri"/>
              </a:rPr>
              <a:t>It cannot rank Apple against ExxonMobil. A real book runs this per sector with sector-neutral limits.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A12</a:t>
            </a:r>
            <a:r>
              <a:rPr sz="1900" b="1">
                <a:solidFill>
                  <a:srgbClr val="101010"/>
                </a:solidFill>
                <a:latin typeface="Calibri"/>
              </a:rPr>
              <a:t>     Reproducibility</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43000"/>
            <a:ext cx="3383280" cy="14630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1" y="128930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18</a:t>
            </a:r>
          </a:p>
        </p:txBody>
      </p:sp>
      <p:sp>
        <p:nvSpPr>
          <p:cNvPr id="7" name="TextBox 6"/>
          <p:cNvSpPr txBox="1"/>
          <p:nvPr/>
        </p:nvSpPr>
        <p:spPr>
          <a:xfrm>
            <a:off x="1033271" y="1892807"/>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seconds</a:t>
            </a:r>
          </a:p>
        </p:txBody>
      </p:sp>
      <p:sp>
        <p:nvSpPr>
          <p:cNvPr id="8" name="TextBox 7"/>
          <p:cNvSpPr txBox="1"/>
          <p:nvPr/>
        </p:nvSpPr>
        <p:spPr>
          <a:xfrm>
            <a:off x="1033271" y="2276856"/>
            <a:ext cx="2880360" cy="210312"/>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to run all 17,496 specifications on a laptop. numpy and pandas only.</a:t>
            </a:r>
          </a:p>
        </p:txBody>
      </p:sp>
      <p:sp>
        <p:nvSpPr>
          <p:cNvPr id="9" name="Rectangle 8"/>
          <p:cNvSpPr/>
          <p:nvPr/>
        </p:nvSpPr>
        <p:spPr>
          <a:xfrm>
            <a:off x="4389120" y="1143000"/>
            <a:ext cx="3383280" cy="14630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5152" y="128930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0.05</a:t>
            </a:r>
          </a:p>
        </p:txBody>
      </p:sp>
      <p:sp>
        <p:nvSpPr>
          <p:cNvPr id="11" name="TextBox 10"/>
          <p:cNvSpPr txBox="1"/>
          <p:nvPr/>
        </p:nvSpPr>
        <p:spPr>
          <a:xfrm>
            <a:off x="4645152" y="1892807"/>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rank points</a:t>
            </a:r>
          </a:p>
        </p:txBody>
      </p:sp>
      <p:sp>
        <p:nvSpPr>
          <p:cNvPr id="12" name="TextBox 11"/>
          <p:cNvSpPr txBox="1"/>
          <p:nvPr/>
        </p:nvSpPr>
        <p:spPr>
          <a:xfrm>
            <a:off x="4645152" y="2276856"/>
            <a:ext cx="2880360" cy="210312"/>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the browser tool reproduces the Python pipeline to this tolerance, on all 18 companies.</a:t>
            </a:r>
          </a:p>
        </p:txBody>
      </p:sp>
      <p:sp>
        <p:nvSpPr>
          <p:cNvPr id="13" name="Rectangle 12"/>
          <p:cNvSpPr/>
          <p:nvPr/>
        </p:nvSpPr>
        <p:spPr>
          <a:xfrm>
            <a:off x="8001000" y="1143000"/>
            <a:ext cx="3383280" cy="14630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1" y="128930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0</a:t>
            </a:r>
          </a:p>
        </p:txBody>
      </p:sp>
      <p:sp>
        <p:nvSpPr>
          <p:cNvPr id="15" name="TextBox 14"/>
          <p:cNvSpPr txBox="1"/>
          <p:nvPr/>
        </p:nvSpPr>
        <p:spPr>
          <a:xfrm>
            <a:off x="8257031" y="1892807"/>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dependencies</a:t>
            </a:r>
          </a:p>
        </p:txBody>
      </p:sp>
      <p:sp>
        <p:nvSpPr>
          <p:cNvPr id="16" name="TextBox 15"/>
          <p:cNvSpPr txBox="1"/>
          <p:nvPr/>
        </p:nvSpPr>
        <p:spPr>
          <a:xfrm>
            <a:off x="8257031" y="2276856"/>
            <a:ext cx="2880360" cy="210312"/>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No build step, no network, no server. The explorer opens from a static folder.</a:t>
            </a:r>
          </a:p>
        </p:txBody>
      </p:sp>
      <p:sp>
        <p:nvSpPr>
          <p:cNvPr id="17" name="TextBox 16"/>
          <p:cNvSpPr txBox="1"/>
          <p:nvPr/>
        </p:nvSpPr>
        <p:spPr>
          <a:xfrm>
            <a:off x="777240" y="2880360"/>
            <a:ext cx="10607040" cy="32004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The pipeline</a:t>
            </a:r>
          </a:p>
        </p:txBody>
      </p:sp>
      <p:sp>
        <p:nvSpPr>
          <p:cNvPr id="18" name="Rectangle 17"/>
          <p:cNvSpPr/>
          <p:nvPr/>
        </p:nvSpPr>
        <p:spPr>
          <a:xfrm>
            <a:off x="777240" y="3291840"/>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374136"/>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registry.py</a:t>
            </a:r>
          </a:p>
        </p:txBody>
      </p:sp>
      <p:sp>
        <p:nvSpPr>
          <p:cNvPr id="20" name="TextBox 19"/>
          <p:cNvSpPr txBox="1"/>
          <p:nvPr/>
        </p:nvSpPr>
        <p:spPr>
          <a:xfrm>
            <a:off x="5943600" y="3374136"/>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the field registry, printed for inspection</a:t>
            </a:r>
          </a:p>
        </p:txBody>
      </p:sp>
      <p:sp>
        <p:nvSpPr>
          <p:cNvPr id="21" name="Rectangle 20"/>
          <p:cNvSpPr/>
          <p:nvPr/>
        </p:nvSpPr>
        <p:spPr>
          <a:xfrm>
            <a:off x="777240" y="3730752"/>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3813048"/>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load.py</a:t>
            </a:r>
          </a:p>
        </p:txBody>
      </p:sp>
      <p:sp>
        <p:nvSpPr>
          <p:cNvPr id="23" name="TextBox 22"/>
          <p:cNvSpPr txBox="1"/>
          <p:nvPr/>
        </p:nvSpPr>
        <p:spPr>
          <a:xfrm>
            <a:off x="5943600" y="3813048"/>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the arrays and a coverage report</a:t>
            </a:r>
          </a:p>
        </p:txBody>
      </p:sp>
      <p:sp>
        <p:nvSpPr>
          <p:cNvPr id="24" name="Rectangle 23"/>
          <p:cNvSpPr/>
          <p:nvPr/>
        </p:nvSpPr>
        <p:spPr>
          <a:xfrm>
            <a:off x="777240" y="4169664"/>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251960"/>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run.py</a:t>
            </a:r>
          </a:p>
        </p:txBody>
      </p:sp>
      <p:sp>
        <p:nvSpPr>
          <p:cNvPr id="26" name="TextBox 25"/>
          <p:cNvSpPr txBox="1"/>
          <p:nvPr/>
        </p:nvSpPr>
        <p:spPr>
          <a:xfrm>
            <a:off x="5943600" y="4251960"/>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every specification into out/</a:t>
            </a:r>
          </a:p>
        </p:txBody>
      </p:sp>
      <p:sp>
        <p:nvSpPr>
          <p:cNvPr id="27" name="Rectangle 26"/>
          <p:cNvSpPr/>
          <p:nvPr/>
        </p:nvSpPr>
        <p:spPr>
          <a:xfrm>
            <a:off x="777240" y="4608576"/>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690872"/>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export_web.py</a:t>
            </a:r>
          </a:p>
        </p:txBody>
      </p:sp>
      <p:sp>
        <p:nvSpPr>
          <p:cNvPr id="29" name="TextBox 28"/>
          <p:cNvSpPr txBox="1"/>
          <p:nvPr/>
        </p:nvSpPr>
        <p:spPr>
          <a:xfrm>
            <a:off x="5943600" y="4690872"/>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the pillar cube for the browser explorer</a:t>
            </a:r>
          </a:p>
        </p:txBody>
      </p:sp>
      <p:sp>
        <p:nvSpPr>
          <p:cNvPr id="30" name="Rectangle 29"/>
          <p:cNvSpPr/>
          <p:nvPr/>
        </p:nvSpPr>
        <p:spPr>
          <a:xfrm>
            <a:off x="777240" y="5047488"/>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129784"/>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python3 -m http.server 4173 --directory ../web</a:t>
            </a:r>
          </a:p>
        </p:txBody>
      </p:sp>
      <p:sp>
        <p:nvSpPr>
          <p:cNvPr id="32" name="TextBox 31"/>
          <p:cNvSpPr txBox="1"/>
          <p:nvPr/>
        </p:nvSpPr>
        <p:spPr>
          <a:xfrm>
            <a:off x="5943600" y="5129784"/>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the interactive tool</a:t>
            </a:r>
          </a:p>
        </p:txBody>
      </p:sp>
      <p:sp>
        <p:nvSpPr>
          <p:cNvPr id="33" name="Rectangle 32"/>
          <p:cNvSpPr/>
          <p:nvPr/>
        </p:nvSpPr>
        <p:spPr>
          <a:xfrm>
            <a:off x="777240" y="5440680"/>
            <a:ext cx="10607040" cy="960120"/>
          </a:xfrm>
          <a:prstGeom prst="rect">
            <a:avLst/>
          </a:prstGeom>
          <a:noFill/>
          <a:ln w="2540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97280" y="5623560"/>
            <a:ext cx="10058400" cy="640080"/>
          </a:xfrm>
          <a:prstGeom prst="rect">
            <a:avLst/>
          </a:prstGeom>
          <a:noFill/>
        </p:spPr>
        <p:txBody>
          <a:bodyPr wrap="square" anchor="t" lIns="0" rIns="0" tIns="0" bIns="0">
            <a:spAutoFit/>
          </a:bodyPr>
          <a:lstStyle/>
          <a:p>
            <a:pPr algn="l">
              <a:lnSpc>
                <a:spcPct val="115000"/>
              </a:lnSpc>
              <a:spcAft>
                <a:spcPts val="600"/>
              </a:spcAft>
            </a:pPr>
            <a:r>
              <a:rPr sz="1300" b="1">
                <a:solidFill>
                  <a:srgbClr val="101010"/>
                </a:solidFill>
                <a:latin typeface="Calibri"/>
              </a:rPr>
              <a:t>Bloomberg cell values are withheld for licensing. </a:t>
            </a:r>
            <a:r>
              <a:rPr sz="1300" b="0">
                <a:solidFill>
                  <a:srgbClr val="101010"/>
                </a:solidFill>
                <a:latin typeface="Calibri"/>
              </a:rPr>
              <a:t>Everything derived from them is published: the loader, the formula, every computed output and the explorer. We are happy to show the files in person to demonstrate the model runs on real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